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not a request to build something. It already exists and is being used. The ask is to make it the department standard and fund the small amount of work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while taking questions at the end — everything else in the deck supports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that specialists are slow. It is that the current process makes them enter the same finding four or five times, and none of those copies talk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rest of the deck is reachable from this screen. Note the counters at the top — they are live across every tab, so a specialist always knows what is still unanswered.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trend data can be sliced by region and area manager without anyone typing a region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A location that self-audits Y on something that is actually N is the exact pattern a surveyor finds, and before this tool it was caught only if the specialist happened to remember what the spreadsheet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this by hand is roughly 50 competencies times the number of employees, per location, twice a year. That arithmetic is where errors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a real export during preparation of this deck: the on-site answers appear in the ON-SITE VISIT column of the original workbook, and every other part of the file is byte-for-byte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what the LCM and area manager actually work from between the visit and the follow-up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dataset shown. The shape is real: 68 finalized visits, 462 findings, trending down over 14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for weighting in one slide.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gap. Compliance gaps we know about and have not closed. Coverage gaps where we have no data at all. Only the first is visible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are estimates. Ask the team leads to replace the two middle columns with their own figures before this goes any further — the point is the method, not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mentioning but not dwelling on — it is a second module that came out of the same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out loud rather than glossing it. Raising the key-person risk yourself is what makes the rest of the deck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image" Target="../media/image-29-3.jpg"/><Relationship Id="rId4" Type="http://schemas.openxmlformats.org/officeDocument/2006/relationships/image" Target="../media/image-29-4.jp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66928" y="1234440"/>
            <a:ext cx="2331720" cy="329184"/>
          </a:xfrm>
          <a:prstGeom prst="roundRect">
            <a:avLst>
              <a:gd name="adj" fmla="val 50000"/>
            </a:avLst>
          </a:prstGeom>
          <a:solidFill>
            <a:srgbClr val="1C4A7E"/>
          </a:solidFill>
          <a:ln w="9525">
            <a:solidFill>
              <a:srgbClr val="2B5E96"/>
            </a:solidFill>
            <a:prstDash val="solid"/>
          </a:ln>
        </p:spPr>
      </p:sp>
      <p:sp>
        <p:nvSpPr>
          <p:cNvPr id="3" name="Text 1"/>
          <p:cNvSpPr/>
          <p:nvPr/>
        </p:nvSpPr>
        <p:spPr>
          <a:xfrm>
            <a:off x="566928" y="1234440"/>
            <a:ext cx="2331720" cy="329184"/>
          </a:xfrm>
          <a:prstGeom prst="rect">
            <a:avLst/>
          </a:prstGeom>
          <a:noFill/>
          <a:ln/>
        </p:spPr>
        <p:txBody>
          <a:bodyPr wrap="square" lIns="0" tIns="0" rIns="0" bIns="0" rtlCol="0" anchor="ctr"/>
          <a:lstStyle/>
          <a:p>
            <a:pPr algn="ctr" indent="0" marL="0">
              <a:buNone/>
            </a:pPr>
            <a:r>
              <a:rPr lang="en-US" sz="1050" b="1" spc="130" kern="0" dirty="0">
                <a:solidFill>
                  <a:srgbClr val="A9C8E8"/>
                </a:solidFill>
                <a:latin typeface="Calibri" pitchFamily="34" charset="0"/>
                <a:ea typeface="Calibri" pitchFamily="34" charset="-122"/>
                <a:cs typeface="Calibri" pitchFamily="34" charset="-120"/>
              </a:rPr>
              <a:t>ROLLOUT PROPOSAL</a:t>
            </a:r>
            <a:endParaRPr lang="en-US" sz="1050" dirty="0"/>
          </a:p>
        </p:txBody>
      </p:sp>
      <p:sp>
        <p:nvSpPr>
          <p:cNvPr id="4" name="Text 2"/>
          <p:cNvSpPr/>
          <p:nvPr/>
        </p:nvSpPr>
        <p:spPr>
          <a:xfrm>
            <a:off x="566928" y="1783080"/>
            <a:ext cx="841248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Accreditation Survey Prep</a:t>
            </a:r>
            <a:endParaRPr lang="en-US" sz="5000" dirty="0"/>
          </a:p>
        </p:txBody>
      </p:sp>
      <p:sp>
        <p:nvSpPr>
          <p:cNvPr id="5" name="Text 3"/>
          <p:cNvSpPr/>
          <p:nvPr/>
        </p:nvSpPr>
        <p:spPr>
          <a:xfrm>
            <a:off x="566928" y="2670048"/>
            <a:ext cx="8778240" cy="548640"/>
          </a:xfrm>
          <a:prstGeom prst="rect">
            <a:avLst/>
          </a:prstGeom>
          <a:noFill/>
          <a:ln/>
        </p:spPr>
        <p:txBody>
          <a:bodyPr wrap="square" lIns="0" tIns="0" rIns="0" bIns="0" rtlCol="0" anchor="ctr"/>
          <a:lstStyle/>
          <a:p>
            <a:pPr indent="0" marL="0">
              <a:buNone/>
            </a:pPr>
            <a:r>
              <a:rPr lang="en-US" sz="2400" dirty="0">
                <a:solidFill>
                  <a:srgbClr val="7FA8D4"/>
                </a:solidFill>
                <a:latin typeface="Cambria" pitchFamily="34" charset="0"/>
                <a:ea typeface="Cambria" pitchFamily="34" charset="-122"/>
                <a:cs typeface="Cambria" pitchFamily="34" charset="-120"/>
              </a:rPr>
              <a:t>From a specialist's spreadsheet to a department-wide system</a:t>
            </a:r>
            <a:endParaRPr lang="en-US" sz="2400" dirty="0"/>
          </a:p>
        </p:txBody>
      </p:sp>
      <p:sp>
        <p:nvSpPr>
          <p:cNvPr id="6" name="Text 4"/>
          <p:cNvSpPr/>
          <p:nvPr/>
        </p:nvSpPr>
        <p:spPr>
          <a:xfrm>
            <a:off x="566928" y="3429000"/>
            <a:ext cx="7498080" cy="1188720"/>
          </a:xfrm>
          <a:prstGeom prst="rect">
            <a:avLst/>
          </a:prstGeom>
          <a:noFill/>
          <a:ln/>
        </p:spPr>
        <p:txBody>
          <a:bodyPr wrap="square" lIns="0" tIns="0" rIns="0" bIns="0" rtlCol="0" anchor="t"/>
          <a:lstStyle/>
          <a:p>
            <a:pPr indent="0" marL="0">
              <a:lnSpc>
                <a:spcPts val="2200"/>
              </a:lnSpc>
              <a:buNone/>
            </a:pPr>
            <a:r>
              <a:rPr lang="en-US" sz="1400" dirty="0">
                <a:solidFill>
                  <a:srgbClr val="B9CBE0"/>
                </a:solidFill>
                <a:latin typeface="Calibri" pitchFamily="34" charset="0"/>
                <a:ea typeface="Calibri" pitchFamily="34" charset="-122"/>
                <a:cs typeface="Calibri" pitchFamily="34" charset="-120"/>
              </a:rPr>
              <a:t>The Survey Prep App runs an accreditation readiness visit end to end — nine binder and field checklists, the OP 541 / 541T self-audit reconciliation, JC 427 personnel records, every export the visit produces, and a company-wide trend dashboard built from all of it.</a:t>
            </a:r>
            <a:endParaRPr lang="en-US" sz="1400" dirty="0"/>
          </a:p>
        </p:txBody>
      </p:sp>
      <p:sp>
        <p:nvSpPr>
          <p:cNvPr id="7" name="Shape 5"/>
          <p:cNvSpPr/>
          <p:nvPr/>
        </p:nvSpPr>
        <p:spPr>
          <a:xfrm>
            <a:off x="566928" y="4892040"/>
            <a:ext cx="2194560" cy="841248"/>
          </a:xfrm>
          <a:prstGeom prst="roundRect">
            <a:avLst>
              <a:gd name="adj" fmla="val 6522"/>
            </a:avLst>
          </a:prstGeom>
          <a:solidFill>
            <a:srgbClr val="12315A"/>
          </a:solidFill>
          <a:ln w="9525">
            <a:solidFill>
              <a:srgbClr val="24507F"/>
            </a:solidFill>
            <a:prstDash val="solid"/>
          </a:ln>
        </p:spPr>
      </p:sp>
      <p:sp>
        <p:nvSpPr>
          <p:cNvPr id="8" name="Text 6"/>
          <p:cNvSpPr/>
          <p:nvPr/>
        </p:nvSpPr>
        <p:spPr>
          <a:xfrm>
            <a:off x="749808" y="4992624"/>
            <a:ext cx="1828800" cy="237744"/>
          </a:xfrm>
          <a:prstGeom prst="rect">
            <a:avLst/>
          </a:prstGeom>
          <a:noFill/>
          <a:ln/>
        </p:spPr>
        <p:txBody>
          <a:bodyPr wrap="square" lIns="0" tIns="0" rIns="0" bIns="0" rtlCol="0" anchor="ctr"/>
          <a:lstStyle/>
          <a:p>
            <a:pPr indent="0" marL="0">
              <a:buNone/>
            </a:pPr>
            <a:r>
              <a:rPr lang="en-US" sz="950" b="1" spc="100" kern="0" dirty="0">
                <a:solidFill>
                  <a:srgbClr val="7FA8D4"/>
                </a:solidFill>
                <a:latin typeface="Calibri" pitchFamily="34" charset="0"/>
                <a:ea typeface="Calibri" pitchFamily="34" charset="-122"/>
                <a:cs typeface="Calibri" pitchFamily="34" charset="-120"/>
              </a:rPr>
              <a:t>BUILT</a:t>
            </a:r>
            <a:endParaRPr lang="en-US" sz="950" dirty="0"/>
          </a:p>
        </p:txBody>
      </p:sp>
      <p:sp>
        <p:nvSpPr>
          <p:cNvPr id="9" name="Text 7"/>
          <p:cNvSpPr/>
          <p:nvPr/>
        </p:nvSpPr>
        <p:spPr>
          <a:xfrm>
            <a:off x="749808" y="5230368"/>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 production use</a:t>
            </a:r>
            <a:endParaRPr lang="en-US" sz="1300" dirty="0"/>
          </a:p>
        </p:txBody>
      </p:sp>
      <p:sp>
        <p:nvSpPr>
          <p:cNvPr id="10" name="Shape 8"/>
          <p:cNvSpPr/>
          <p:nvPr/>
        </p:nvSpPr>
        <p:spPr>
          <a:xfrm>
            <a:off x="2962656" y="4892040"/>
            <a:ext cx="2194560" cy="841248"/>
          </a:xfrm>
          <a:prstGeom prst="roundRect">
            <a:avLst>
              <a:gd name="adj" fmla="val 6522"/>
            </a:avLst>
          </a:prstGeom>
          <a:solidFill>
            <a:srgbClr val="12315A"/>
          </a:solidFill>
          <a:ln w="9525">
            <a:solidFill>
              <a:srgbClr val="24507F"/>
            </a:solidFill>
            <a:prstDash val="solid"/>
          </a:ln>
        </p:spPr>
      </p:sp>
      <p:sp>
        <p:nvSpPr>
          <p:cNvPr id="11" name="Text 9"/>
          <p:cNvSpPr/>
          <p:nvPr/>
        </p:nvSpPr>
        <p:spPr>
          <a:xfrm>
            <a:off x="3145536" y="4992624"/>
            <a:ext cx="1828800" cy="237744"/>
          </a:xfrm>
          <a:prstGeom prst="rect">
            <a:avLst/>
          </a:prstGeom>
          <a:noFill/>
          <a:ln/>
        </p:spPr>
        <p:txBody>
          <a:bodyPr wrap="square" lIns="0" tIns="0" rIns="0" bIns="0" rtlCol="0" anchor="ctr"/>
          <a:lstStyle/>
          <a:p>
            <a:pPr indent="0" marL="0">
              <a:buNone/>
            </a:pPr>
            <a:r>
              <a:rPr lang="en-US" sz="950" b="1" spc="100" kern="0" dirty="0">
                <a:solidFill>
                  <a:srgbClr val="7FA8D4"/>
                </a:solidFill>
                <a:latin typeface="Calibri" pitchFamily="34" charset="0"/>
                <a:ea typeface="Calibri" pitchFamily="34" charset="-122"/>
                <a:cs typeface="Calibri" pitchFamily="34" charset="-120"/>
              </a:rPr>
              <a:t>COST</a:t>
            </a:r>
            <a:endParaRPr lang="en-US" sz="950" dirty="0"/>
          </a:p>
        </p:txBody>
      </p:sp>
      <p:sp>
        <p:nvSpPr>
          <p:cNvPr id="12" name="Text 10"/>
          <p:cNvSpPr/>
          <p:nvPr/>
        </p:nvSpPr>
        <p:spPr>
          <a:xfrm>
            <a:off x="3145536" y="5230368"/>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licence fee</a:t>
            </a:r>
            <a:endParaRPr lang="en-US" sz="1300" dirty="0"/>
          </a:p>
        </p:txBody>
      </p:sp>
      <p:sp>
        <p:nvSpPr>
          <p:cNvPr id="13" name="Shape 11"/>
          <p:cNvSpPr/>
          <p:nvPr/>
        </p:nvSpPr>
        <p:spPr>
          <a:xfrm>
            <a:off x="5358384" y="4892040"/>
            <a:ext cx="2194560" cy="841248"/>
          </a:xfrm>
          <a:prstGeom prst="roundRect">
            <a:avLst>
              <a:gd name="adj" fmla="val 6522"/>
            </a:avLst>
          </a:prstGeom>
          <a:solidFill>
            <a:srgbClr val="12315A"/>
          </a:solidFill>
          <a:ln w="9525">
            <a:solidFill>
              <a:srgbClr val="24507F"/>
            </a:solidFill>
            <a:prstDash val="solid"/>
          </a:ln>
        </p:spPr>
      </p:sp>
      <p:sp>
        <p:nvSpPr>
          <p:cNvPr id="14" name="Text 12"/>
          <p:cNvSpPr/>
          <p:nvPr/>
        </p:nvSpPr>
        <p:spPr>
          <a:xfrm>
            <a:off x="5541264" y="4992624"/>
            <a:ext cx="1828800" cy="237744"/>
          </a:xfrm>
          <a:prstGeom prst="rect">
            <a:avLst/>
          </a:prstGeom>
          <a:noFill/>
          <a:ln/>
        </p:spPr>
        <p:txBody>
          <a:bodyPr wrap="square" lIns="0" tIns="0" rIns="0" bIns="0" rtlCol="0" anchor="ctr"/>
          <a:lstStyle/>
          <a:p>
            <a:pPr indent="0" marL="0">
              <a:buNone/>
            </a:pPr>
            <a:r>
              <a:rPr lang="en-US" sz="950" b="1" spc="100" kern="0" dirty="0">
                <a:solidFill>
                  <a:srgbClr val="7FA8D4"/>
                </a:solidFill>
                <a:latin typeface="Calibri" pitchFamily="34" charset="0"/>
                <a:ea typeface="Calibri" pitchFamily="34" charset="-122"/>
                <a:cs typeface="Calibri" pitchFamily="34" charset="-120"/>
              </a:rPr>
              <a:t>ASK</a:t>
            </a:r>
            <a:endParaRPr lang="en-US" sz="950" dirty="0"/>
          </a:p>
        </p:txBody>
      </p:sp>
      <p:sp>
        <p:nvSpPr>
          <p:cNvPr id="15" name="Text 13"/>
          <p:cNvSpPr/>
          <p:nvPr/>
        </p:nvSpPr>
        <p:spPr>
          <a:xfrm>
            <a:off x="5541264" y="5230368"/>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Approve the rollout</a:t>
            </a:r>
            <a:endParaRPr lang="en-US" sz="1300" dirty="0"/>
          </a:p>
        </p:txBody>
      </p:sp>
      <p:sp>
        <p:nvSpPr>
          <p:cNvPr id="16" name="Text 14"/>
          <p:cNvSpPr/>
          <p:nvPr/>
        </p:nvSpPr>
        <p:spPr>
          <a:xfrm>
            <a:off x="566928" y="6035040"/>
            <a:ext cx="7315200" cy="292608"/>
          </a:xfrm>
          <a:prstGeom prst="rect">
            <a:avLst/>
          </a:prstGeom>
          <a:noFill/>
          <a:ln/>
        </p:spPr>
        <p:txBody>
          <a:bodyPr wrap="square" lIns="0" tIns="0" rIns="0" bIns="0" rtlCol="0" anchor="ctr"/>
          <a:lstStyle/>
          <a:p>
            <a:pPr indent="0" marL="0">
              <a:buNone/>
            </a:pPr>
            <a:r>
              <a:rPr lang="en-US" sz="1100" dirty="0">
                <a:solidFill>
                  <a:srgbClr val="6E86A6"/>
                </a:solidFill>
                <a:latin typeface="Calibri" pitchFamily="34" charset="0"/>
                <a:ea typeface="Calibri" pitchFamily="34" charset="-122"/>
                <a:cs typeface="Calibri" pitchFamily="34" charset="-120"/>
              </a:rPr>
              <a:t>Prepared by the Accreditation Department  ·  July 2026</a:t>
            </a:r>
            <a:endParaRPr lang="en-US" sz="110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871216"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871216"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EXECUTIVE SUMMARY</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What we are asking for</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Three decisions, none of which require new headcount or a software purchase.</a:t>
            </a:r>
            <a:endParaRPr lang="en-US" sz="1350" dirty="0"/>
          </a:p>
        </p:txBody>
      </p:sp>
      <p:sp>
        <p:nvSpPr>
          <p:cNvPr id="6" name="Shape 4"/>
          <p:cNvSpPr/>
          <p:nvPr/>
        </p:nvSpPr>
        <p:spPr>
          <a:xfrm>
            <a:off x="566928" y="1938528"/>
            <a:ext cx="11055096" cy="1298448"/>
          </a:xfrm>
          <a:prstGeom prst="roundRect">
            <a:avLst>
              <a:gd name="adj" fmla="val 422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Shape 5"/>
          <p:cNvSpPr/>
          <p:nvPr/>
        </p:nvSpPr>
        <p:spPr>
          <a:xfrm>
            <a:off x="822960" y="2258568"/>
            <a:ext cx="658368" cy="658368"/>
          </a:xfrm>
          <a:prstGeom prst="ellipse">
            <a:avLst/>
          </a:prstGeom>
          <a:solidFill>
            <a:srgbClr val="0053A1"/>
          </a:solidFill>
          <a:ln/>
        </p:spPr>
      </p:sp>
      <p:sp>
        <p:nvSpPr>
          <p:cNvPr id="8" name="Text 6"/>
          <p:cNvSpPr/>
          <p:nvPr/>
        </p:nvSpPr>
        <p:spPr>
          <a:xfrm>
            <a:off x="822960" y="2258568"/>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9" name="Text 7"/>
          <p:cNvSpPr/>
          <p:nvPr/>
        </p:nvSpPr>
        <p:spPr>
          <a:xfrm>
            <a:off x="1700784" y="2157984"/>
            <a:ext cx="9692640" cy="36576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Approve the rollout</a:t>
            </a:r>
            <a:endParaRPr lang="en-US" sz="1900" dirty="0"/>
          </a:p>
        </p:txBody>
      </p:sp>
      <p:sp>
        <p:nvSpPr>
          <p:cNvPr id="10" name="Text 8"/>
          <p:cNvSpPr/>
          <p:nvPr/>
        </p:nvSpPr>
        <p:spPr>
          <a:xfrm>
            <a:off x="1700784" y="2542032"/>
            <a:ext cx="9692640" cy="566928"/>
          </a:xfrm>
          <a:prstGeom prst="rect">
            <a:avLst/>
          </a:prstGeom>
          <a:noFill/>
          <a:ln/>
        </p:spPr>
        <p:txBody>
          <a:bodyPr wrap="square" lIns="0" tIns="0" rIns="0" bIns="0" rtlCol="0" anchor="t"/>
          <a:lstStyle/>
          <a:p>
            <a:pPr indent="0" marL="0">
              <a:lnSpc>
                <a:spcPts val="1700"/>
              </a:lnSpc>
              <a:buNone/>
            </a:pPr>
            <a:r>
              <a:rPr lang="en-US" sz="1250" dirty="0">
                <a:solidFill>
                  <a:srgbClr val="5D6773"/>
                </a:solidFill>
                <a:latin typeface="Calibri" pitchFamily="34" charset="0"/>
                <a:ea typeface="Calibri" pitchFamily="34" charset="-122"/>
                <a:cs typeface="Calibri" pitchFamily="34" charset="-120"/>
              </a:rPr>
              <a:t>Make the Survey Prep App the standard tool for every accreditation readiness visit, replacing the current mix of paper forms, Word write-ups and personal spreadsheets.</a:t>
            </a:r>
            <a:endParaRPr lang="en-US" sz="1250" dirty="0"/>
          </a:p>
        </p:txBody>
      </p:sp>
      <p:sp>
        <p:nvSpPr>
          <p:cNvPr id="11" name="Shape 9"/>
          <p:cNvSpPr/>
          <p:nvPr/>
        </p:nvSpPr>
        <p:spPr>
          <a:xfrm>
            <a:off x="566928" y="3401568"/>
            <a:ext cx="11055096" cy="1298448"/>
          </a:xfrm>
          <a:prstGeom prst="roundRect">
            <a:avLst>
              <a:gd name="adj" fmla="val 422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2" name="Shape 10"/>
          <p:cNvSpPr/>
          <p:nvPr/>
        </p:nvSpPr>
        <p:spPr>
          <a:xfrm>
            <a:off x="822960" y="3721608"/>
            <a:ext cx="658368" cy="658368"/>
          </a:xfrm>
          <a:prstGeom prst="ellipse">
            <a:avLst/>
          </a:prstGeom>
          <a:solidFill>
            <a:srgbClr val="0053A1"/>
          </a:solidFill>
          <a:ln/>
        </p:spPr>
      </p:sp>
      <p:sp>
        <p:nvSpPr>
          <p:cNvPr id="13" name="Text 11"/>
          <p:cNvSpPr/>
          <p:nvPr/>
        </p:nvSpPr>
        <p:spPr>
          <a:xfrm>
            <a:off x="822960" y="3721608"/>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Text 12"/>
          <p:cNvSpPr/>
          <p:nvPr/>
        </p:nvSpPr>
        <p:spPr>
          <a:xfrm>
            <a:off x="1700784" y="3621024"/>
            <a:ext cx="9692640" cy="36576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Approve the weighting model</a:t>
            </a:r>
            <a:endParaRPr lang="en-US" sz="1900" dirty="0"/>
          </a:p>
        </p:txBody>
      </p:sp>
      <p:sp>
        <p:nvSpPr>
          <p:cNvPr id="15" name="Text 13"/>
          <p:cNvSpPr/>
          <p:nvPr/>
        </p:nvSpPr>
        <p:spPr>
          <a:xfrm>
            <a:off x="1700784" y="4005072"/>
            <a:ext cx="9692640" cy="566928"/>
          </a:xfrm>
          <a:prstGeom prst="rect">
            <a:avLst/>
          </a:prstGeom>
          <a:noFill/>
          <a:ln/>
        </p:spPr>
        <p:txBody>
          <a:bodyPr wrap="square" lIns="0" tIns="0" rIns="0" bIns="0" rtlCol="0" anchor="t"/>
          <a:lstStyle/>
          <a:p>
            <a:pPr indent="0" marL="0">
              <a:lnSpc>
                <a:spcPts val="1700"/>
              </a:lnSpc>
              <a:buNone/>
            </a:pPr>
            <a:r>
              <a:rPr lang="en-US" sz="1250" dirty="0">
                <a:solidFill>
                  <a:srgbClr val="5D6773"/>
                </a:solidFill>
                <a:latin typeface="Calibri" pitchFamily="34" charset="0"/>
                <a:ea typeface="Calibri" pitchFamily="34" charset="-122"/>
                <a:cs typeface="Calibri" pitchFamily="34" charset="-120"/>
              </a:rPr>
              <a:t>Add severity weighting to every checklist item so the trend data ranks sites by risk, not by how many boxes happened to be ticked.</a:t>
            </a:r>
            <a:endParaRPr lang="en-US" sz="1250" dirty="0"/>
          </a:p>
        </p:txBody>
      </p:sp>
      <p:sp>
        <p:nvSpPr>
          <p:cNvPr id="16" name="Shape 14"/>
          <p:cNvSpPr/>
          <p:nvPr/>
        </p:nvSpPr>
        <p:spPr>
          <a:xfrm>
            <a:off x="566928" y="4864608"/>
            <a:ext cx="11055096" cy="1298448"/>
          </a:xfrm>
          <a:prstGeom prst="roundRect">
            <a:avLst>
              <a:gd name="adj" fmla="val 422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7" name="Shape 15"/>
          <p:cNvSpPr/>
          <p:nvPr/>
        </p:nvSpPr>
        <p:spPr>
          <a:xfrm>
            <a:off x="822960" y="5184648"/>
            <a:ext cx="658368" cy="658368"/>
          </a:xfrm>
          <a:prstGeom prst="ellipse">
            <a:avLst/>
          </a:prstGeom>
          <a:solidFill>
            <a:srgbClr val="0053A1"/>
          </a:solidFill>
          <a:ln/>
        </p:spPr>
      </p:sp>
      <p:sp>
        <p:nvSpPr>
          <p:cNvPr id="18" name="Text 16"/>
          <p:cNvSpPr/>
          <p:nvPr/>
        </p:nvSpPr>
        <p:spPr>
          <a:xfrm>
            <a:off x="822960" y="5184648"/>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7"/>
          <p:cNvSpPr/>
          <p:nvPr/>
        </p:nvSpPr>
        <p:spPr>
          <a:xfrm>
            <a:off x="1700784" y="5084064"/>
            <a:ext cx="9692640" cy="36576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Confirm ownership</a:t>
            </a:r>
            <a:endParaRPr lang="en-US" sz="1900" dirty="0"/>
          </a:p>
        </p:txBody>
      </p:sp>
      <p:sp>
        <p:nvSpPr>
          <p:cNvPr id="20" name="Text 18"/>
          <p:cNvSpPr/>
          <p:nvPr/>
        </p:nvSpPr>
        <p:spPr>
          <a:xfrm>
            <a:off x="1700784" y="5468112"/>
            <a:ext cx="9692640" cy="566928"/>
          </a:xfrm>
          <a:prstGeom prst="rect">
            <a:avLst/>
          </a:prstGeom>
          <a:noFill/>
          <a:ln/>
        </p:spPr>
        <p:txBody>
          <a:bodyPr wrap="square" lIns="0" tIns="0" rIns="0" bIns="0" rtlCol="0" anchor="t"/>
          <a:lstStyle/>
          <a:p>
            <a:pPr indent="0" marL="0">
              <a:lnSpc>
                <a:spcPts val="1700"/>
              </a:lnSpc>
              <a:buNone/>
            </a:pPr>
            <a:r>
              <a:rPr lang="en-US" sz="1250" dirty="0">
                <a:solidFill>
                  <a:srgbClr val="5D6773"/>
                </a:solidFill>
                <a:latin typeface="Calibri" pitchFamily="34" charset="0"/>
                <a:ea typeface="Calibri" pitchFamily="34" charset="-122"/>
                <a:cs typeface="Calibri" pitchFamily="34" charset="-120"/>
              </a:rPr>
              <a:t>Name the department owner and the support path, so the tool is a departmental asset rather than one specialist's side project.</a:t>
            </a:r>
            <a:endParaRPr lang="en-US" sz="1250" dirty="0"/>
          </a:p>
        </p:txBody>
      </p:sp>
      <p:sp>
        <p:nvSpPr>
          <p:cNvPr id="22" name="Text 19"/>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3" name="Text 20"/>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THE CASE</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same visit, before and after</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Nothing about the standards changes. What changes is how many times a specialist retypes the same finding.</a:t>
            </a:r>
            <a:endParaRPr lang="en-US" sz="1350" dirty="0"/>
          </a:p>
        </p:txBody>
      </p:sp>
      <p:sp>
        <p:nvSpPr>
          <p:cNvPr id="6" name="Shape 4"/>
          <p:cNvSpPr/>
          <p:nvPr/>
        </p:nvSpPr>
        <p:spPr>
          <a:xfrm>
            <a:off x="566928" y="1938528"/>
            <a:ext cx="5390388" cy="3429000"/>
          </a:xfrm>
          <a:prstGeom prst="roundRect">
            <a:avLst>
              <a:gd name="adj" fmla="val 16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Shape 5"/>
          <p:cNvSpPr/>
          <p:nvPr/>
        </p:nvSpPr>
        <p:spPr>
          <a:xfrm>
            <a:off x="768096" y="2121408"/>
            <a:ext cx="1920240" cy="329184"/>
          </a:xfrm>
          <a:prstGeom prst="roundRect">
            <a:avLst>
              <a:gd name="adj" fmla="val 50000"/>
            </a:avLst>
          </a:prstGeom>
          <a:solidFill>
            <a:srgbClr val="FBEAE7"/>
          </a:solidFill>
          <a:ln w="9525">
            <a:solidFill>
              <a:srgbClr val="E0A099"/>
            </a:solidFill>
            <a:prstDash val="solid"/>
          </a:ln>
        </p:spPr>
      </p:sp>
      <p:sp>
        <p:nvSpPr>
          <p:cNvPr id="8" name="Text 6"/>
          <p:cNvSpPr/>
          <p:nvPr/>
        </p:nvSpPr>
        <p:spPr>
          <a:xfrm>
            <a:off x="768096" y="2121408"/>
            <a:ext cx="1920240" cy="329184"/>
          </a:xfrm>
          <a:prstGeom prst="rect">
            <a:avLst/>
          </a:prstGeom>
          <a:noFill/>
          <a:ln/>
        </p:spPr>
        <p:txBody>
          <a:bodyPr wrap="square" lIns="0" tIns="0" rIns="0" bIns="0" rtlCol="0" anchor="ctr"/>
          <a:lstStyle/>
          <a:p>
            <a:pPr algn="ctr" indent="0" marL="0">
              <a:buNone/>
            </a:pPr>
            <a:r>
              <a:rPr lang="en-US" sz="1000" b="1" spc="100" kern="0" dirty="0">
                <a:solidFill>
                  <a:srgbClr val="9E2019"/>
                </a:solidFill>
                <a:latin typeface="Calibri" pitchFamily="34" charset="0"/>
                <a:ea typeface="Calibri" pitchFamily="34" charset="-122"/>
                <a:cs typeface="Calibri" pitchFamily="34" charset="-120"/>
              </a:rPr>
              <a:t>TODAY</a:t>
            </a:r>
            <a:endParaRPr lang="en-US" sz="1000" dirty="0"/>
          </a:p>
        </p:txBody>
      </p:sp>
      <p:sp>
        <p:nvSpPr>
          <p:cNvPr id="9" name="Text 7"/>
          <p:cNvSpPr/>
          <p:nvPr/>
        </p:nvSpPr>
        <p:spPr>
          <a:xfrm>
            <a:off x="804672" y="2606040"/>
            <a:ext cx="4914900" cy="320040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Paper or Word checklists carried into the location</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Findings retyped into an email, then again into a tracker</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OP 541 self-audit compared to on-site answers by eye</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JC 427 expiry dates worked out by hand, per employee</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Follow-up chased by phone and email, status in one head</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No company-wide view — every visit ends in its own file</a:t>
            </a:r>
            <a:endParaRPr lang="en-US" sz="1250" dirty="0"/>
          </a:p>
        </p:txBody>
      </p:sp>
      <p:sp>
        <p:nvSpPr>
          <p:cNvPr id="10" name="Shape 8"/>
          <p:cNvSpPr/>
          <p:nvPr/>
        </p:nvSpPr>
        <p:spPr>
          <a:xfrm>
            <a:off x="6231636" y="1938528"/>
            <a:ext cx="5390388" cy="3429000"/>
          </a:xfrm>
          <a:prstGeom prst="roundRect">
            <a:avLst>
              <a:gd name="adj" fmla="val 16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1" name="Shape 9"/>
          <p:cNvSpPr/>
          <p:nvPr/>
        </p:nvSpPr>
        <p:spPr>
          <a:xfrm>
            <a:off x="6432804" y="2121408"/>
            <a:ext cx="1920240" cy="329184"/>
          </a:xfrm>
          <a:prstGeom prst="roundRect">
            <a:avLst>
              <a:gd name="adj" fmla="val 50000"/>
            </a:avLst>
          </a:prstGeom>
          <a:solidFill>
            <a:srgbClr val="E7F4EC"/>
          </a:solidFill>
          <a:ln w="9525">
            <a:solidFill>
              <a:srgbClr val="8FC9A3"/>
            </a:solidFill>
            <a:prstDash val="solid"/>
          </a:ln>
        </p:spPr>
      </p:sp>
      <p:sp>
        <p:nvSpPr>
          <p:cNvPr id="12" name="Text 10"/>
          <p:cNvSpPr/>
          <p:nvPr/>
        </p:nvSpPr>
        <p:spPr>
          <a:xfrm>
            <a:off x="6432804" y="2121408"/>
            <a:ext cx="1920240" cy="329184"/>
          </a:xfrm>
          <a:prstGeom prst="rect">
            <a:avLst/>
          </a:prstGeom>
          <a:noFill/>
          <a:ln/>
        </p:spPr>
        <p:txBody>
          <a:bodyPr wrap="square" lIns="0" tIns="0" rIns="0" bIns="0" rtlCol="0" anchor="ctr"/>
          <a:lstStyle/>
          <a:p>
            <a:pPr algn="ctr" indent="0" marL="0">
              <a:buNone/>
            </a:pPr>
            <a:r>
              <a:rPr lang="en-US" sz="1000" b="1" spc="100" kern="0" dirty="0">
                <a:solidFill>
                  <a:srgbClr val="1D7A4D"/>
                </a:solidFill>
                <a:latin typeface="Calibri" pitchFamily="34" charset="0"/>
                <a:ea typeface="Calibri" pitchFamily="34" charset="-122"/>
                <a:cs typeface="Calibri" pitchFamily="34" charset="-120"/>
              </a:rPr>
              <a:t>WITH THE APP</a:t>
            </a:r>
            <a:endParaRPr lang="en-US" sz="1000" dirty="0"/>
          </a:p>
        </p:txBody>
      </p:sp>
      <p:sp>
        <p:nvSpPr>
          <p:cNvPr id="13" name="Text 11"/>
          <p:cNvSpPr/>
          <p:nvPr/>
        </p:nvSpPr>
        <p:spPr>
          <a:xfrm>
            <a:off x="6469380" y="2606040"/>
            <a:ext cx="4914900" cy="320040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One tool on a laptop or iPad, offline-capable</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Findings entered once; every output is generated from them</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Self-audit uploaded — the app flags every disagreement</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Expiry status colour-coded automatically, 3-year rule built in</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A shared checklist link the manager ticks off in real time</a:t>
            </a:r>
            <a:endParaRPr lang="en-US" sz="1250" dirty="0"/>
          </a:p>
          <a:p>
            <a:pPr marL="342900" indent="-342900">
              <a:lnSpc>
                <a:spcPts val="1700"/>
              </a:lnSpc>
              <a:spcAft>
                <a:spcPts val="800"/>
              </a:spcAft>
              <a:buSzPct val="100000"/>
              <a:buChar char="▪"/>
            </a:pPr>
            <a:r>
              <a:rPr lang="en-US" sz="1250" dirty="0">
                <a:solidFill>
                  <a:srgbClr val="131922"/>
                </a:solidFill>
                <a:latin typeface="Calibri" pitchFamily="34" charset="0"/>
                <a:ea typeface="Calibri" pitchFamily="34" charset="-122"/>
                <a:cs typeface="Calibri" pitchFamily="34" charset="-120"/>
              </a:rPr>
              <a:t>Every finalized visit feeds one live trend dashboard</a:t>
            </a:r>
            <a:endParaRPr lang="en-US" sz="1250" dirty="0"/>
          </a:p>
        </p:txBody>
      </p:sp>
      <p:sp>
        <p:nvSpPr>
          <p:cNvPr id="15" name="Text 12"/>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6" name="Text 13"/>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408176"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408176"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THE APP</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One place to start, everything one click away</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dashboard opens on the visit in progress, with every module reachable from a single card.</a:t>
            </a:r>
            <a:endParaRPr lang="en-US" sz="1350" dirty="0"/>
          </a:p>
        </p:txBody>
      </p:sp>
      <p:sp>
        <p:nvSpPr>
          <p:cNvPr id="6" name="Shape 4"/>
          <p:cNvSpPr/>
          <p:nvPr/>
        </p:nvSpPr>
        <p:spPr>
          <a:xfrm>
            <a:off x="1242753" y="1810512"/>
            <a:ext cx="6237871"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02-dashboard.jpg">    </p:cNvPr>
          <p:cNvPicPr>
            <a:picLocks noChangeAspect="1"/>
          </p:cNvPicPr>
          <p:nvPr/>
        </p:nvPicPr>
        <p:blipFill>
          <a:blip r:embed="rId1"/>
          <a:stretch>
            <a:fillRect/>
          </a:stretch>
        </p:blipFill>
        <p:spPr>
          <a:xfrm>
            <a:off x="1306761" y="1874520"/>
            <a:ext cx="6109855"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Specialist dashboard — visit in progress, recent visits, and the eight modules</a:t>
            </a:r>
            <a:endParaRPr lang="en-US" sz="1000" dirty="0"/>
          </a:p>
        </p:txBody>
      </p:sp>
      <p:sp>
        <p:nvSpPr>
          <p:cNvPr id="9" name="Shape 6"/>
          <p:cNvSpPr/>
          <p:nvPr/>
        </p:nvSpPr>
        <p:spPr>
          <a:xfrm>
            <a:off x="8339328" y="1810512"/>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Visit in progress</a:t>
            </a:r>
            <a:endParaRPr lang="en-US" sz="1250" dirty="0"/>
          </a:p>
        </p:txBody>
      </p:sp>
      <p:sp>
        <p:nvSpPr>
          <p:cNvPr id="11" name="Text 8"/>
          <p:cNvSpPr/>
          <p:nvPr/>
        </p:nvSpPr>
        <p:spPr>
          <a:xfrm>
            <a:off x="8522208" y="2194560"/>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Location, Lawson #, city and date carried into every output</a:t>
            </a:r>
            <a:endParaRPr lang="en-US" sz="1050" dirty="0"/>
          </a:p>
        </p:txBody>
      </p:sp>
      <p:sp>
        <p:nvSpPr>
          <p:cNvPr id="12" name="Shape 9"/>
          <p:cNvSpPr/>
          <p:nvPr/>
        </p:nvSpPr>
        <p:spPr>
          <a:xfrm>
            <a:off x="8339328" y="2967228"/>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07695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Live counters</a:t>
            </a:r>
            <a:endParaRPr lang="en-US" sz="1250" dirty="0"/>
          </a:p>
        </p:txBody>
      </p:sp>
      <p:sp>
        <p:nvSpPr>
          <p:cNvPr id="14" name="Text 11"/>
          <p:cNvSpPr/>
          <p:nvPr/>
        </p:nvSpPr>
        <p:spPr>
          <a:xfrm>
            <a:off x="8522208" y="3351276"/>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Compliant / issues / pending across all 174 checklist items</a:t>
            </a:r>
            <a:endParaRPr lang="en-US" sz="1050" dirty="0"/>
          </a:p>
        </p:txBody>
      </p:sp>
      <p:sp>
        <p:nvSpPr>
          <p:cNvPr id="15" name="Shape 12"/>
          <p:cNvSpPr/>
          <p:nvPr/>
        </p:nvSpPr>
        <p:spPr>
          <a:xfrm>
            <a:off x="8339328" y="4123944"/>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4233672"/>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Resume anywhere</a:t>
            </a:r>
            <a:endParaRPr lang="en-US" sz="1250" dirty="0"/>
          </a:p>
        </p:txBody>
      </p:sp>
      <p:sp>
        <p:nvSpPr>
          <p:cNvPr id="17" name="Text 14"/>
          <p:cNvSpPr/>
          <p:nvPr/>
        </p:nvSpPr>
        <p:spPr>
          <a:xfrm>
            <a:off x="8522208" y="4507992"/>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Saved visits sync, so an iPad start finishes at a desk</a:t>
            </a:r>
            <a:endParaRPr lang="en-US" sz="1050" dirty="0"/>
          </a:p>
        </p:txBody>
      </p:sp>
      <p:sp>
        <p:nvSpPr>
          <p:cNvPr id="18" name="Shape 15"/>
          <p:cNvSpPr/>
          <p:nvPr/>
        </p:nvSpPr>
        <p:spPr>
          <a:xfrm>
            <a:off x="8339328" y="5280660"/>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9" name="Text 16"/>
          <p:cNvSpPr/>
          <p:nvPr/>
        </p:nvSpPr>
        <p:spPr>
          <a:xfrm>
            <a:off x="8522208" y="539038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Eight modules</a:t>
            </a:r>
            <a:endParaRPr lang="en-US" sz="1250" dirty="0"/>
          </a:p>
        </p:txBody>
      </p:sp>
      <p:sp>
        <p:nvSpPr>
          <p:cNvPr id="20" name="Text 17"/>
          <p:cNvSpPr/>
          <p:nvPr/>
        </p:nvSpPr>
        <p:spPr>
          <a:xfrm>
            <a:off x="8522208" y="5664708"/>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Checklists, report, trends, policy dates, roster, follow-ups, planner</a:t>
            </a:r>
            <a:endParaRPr lang="en-US" sz="1050" dirty="0"/>
          </a:p>
        </p:txBody>
      </p:sp>
      <p:sp>
        <p:nvSpPr>
          <p:cNvPr id="22" name="Text 18"/>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3" name="Text 19"/>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66928" y="1371600"/>
            <a:ext cx="2194560" cy="1554480"/>
          </a:xfrm>
          <a:prstGeom prst="rect">
            <a:avLst/>
          </a:prstGeom>
          <a:noFill/>
          <a:ln/>
        </p:spPr>
        <p:txBody>
          <a:bodyPr wrap="square" lIns="0" tIns="0" rIns="0" bIns="0" rtlCol="0" anchor="ctr"/>
          <a:lstStyle/>
          <a:p>
            <a:pPr indent="0" marL="0">
              <a:buNone/>
            </a:pPr>
            <a:r>
              <a:rPr lang="en-US" sz="9600" b="1" dirty="0">
                <a:solidFill>
                  <a:srgbClr val="1E4E80"/>
                </a:solidFill>
                <a:latin typeface="Cambria" pitchFamily="34" charset="0"/>
                <a:ea typeface="Cambria" pitchFamily="34" charset="-122"/>
                <a:cs typeface="Cambria" pitchFamily="34" charset="-120"/>
              </a:rPr>
              <a:t>01</a:t>
            </a:r>
            <a:endParaRPr lang="en-US" sz="9600" dirty="0"/>
          </a:p>
        </p:txBody>
      </p:sp>
      <p:sp>
        <p:nvSpPr>
          <p:cNvPr id="3" name="Text 1"/>
          <p:cNvSpPr/>
          <p:nvPr/>
        </p:nvSpPr>
        <p:spPr>
          <a:xfrm>
            <a:off x="566928" y="2834640"/>
            <a:ext cx="69494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visit, end to end</a:t>
            </a:r>
            <a:endParaRPr lang="en-US" sz="3800" dirty="0"/>
          </a:p>
        </p:txBody>
      </p:sp>
      <p:sp>
        <p:nvSpPr>
          <p:cNvPr id="4" name="Text 2"/>
          <p:cNvSpPr/>
          <p:nvPr/>
        </p:nvSpPr>
        <p:spPr>
          <a:xfrm>
            <a:off x="566928" y="3794760"/>
            <a:ext cx="6766560" cy="1828800"/>
          </a:xfrm>
          <a:prstGeom prst="rect">
            <a:avLst/>
          </a:prstGeom>
          <a:noFill/>
          <a:ln/>
        </p:spPr>
        <p:txBody>
          <a:bodyPr wrap="square" lIns="0" tIns="0" rIns="0" bIns="0" rtlCol="0" anchor="t"/>
          <a:lstStyle/>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Follow one accreditation readiness visit from the moment it is created to the moment the follow-up closes.</a:t>
            </a:r>
            <a:endParaRPr lang="en-US" sz="1450" dirty="0"/>
          </a:p>
        </p:txBody>
      </p:sp>
      <p:sp>
        <p:nvSpPr>
          <p:cNvPr id="5" name="Shape 3"/>
          <p:cNvSpPr/>
          <p:nvPr/>
        </p:nvSpPr>
        <p:spPr>
          <a:xfrm>
            <a:off x="7909560" y="1600200"/>
            <a:ext cx="3749040" cy="841248"/>
          </a:xfrm>
          <a:prstGeom prst="roundRect">
            <a:avLst>
              <a:gd name="adj" fmla="val 6522"/>
            </a:avLst>
          </a:prstGeom>
          <a:solidFill>
            <a:srgbClr val="12315A"/>
          </a:solidFill>
          <a:ln w="9525">
            <a:solidFill>
              <a:srgbClr val="24507F"/>
            </a:solidFill>
            <a:prstDash val="solid"/>
          </a:ln>
        </p:spPr>
      </p:sp>
      <p:sp>
        <p:nvSpPr>
          <p:cNvPr id="6" name="Text 4"/>
          <p:cNvSpPr/>
          <p:nvPr/>
        </p:nvSpPr>
        <p:spPr>
          <a:xfrm>
            <a:off x="8110728" y="1700784"/>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9 checklists</a:t>
            </a:r>
            <a:endParaRPr lang="en-US" sz="1500" dirty="0"/>
          </a:p>
        </p:txBody>
      </p:sp>
      <p:sp>
        <p:nvSpPr>
          <p:cNvPr id="7" name="Text 5"/>
          <p:cNvSpPr/>
          <p:nvPr/>
        </p:nvSpPr>
        <p:spPr>
          <a:xfrm>
            <a:off x="8110728" y="2002536"/>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Binders 1–5 plus four field-visit forms</a:t>
            </a:r>
            <a:endParaRPr lang="en-US" sz="1050" dirty="0"/>
          </a:p>
        </p:txBody>
      </p:sp>
      <p:sp>
        <p:nvSpPr>
          <p:cNvPr id="8" name="Shape 6"/>
          <p:cNvSpPr/>
          <p:nvPr/>
        </p:nvSpPr>
        <p:spPr>
          <a:xfrm>
            <a:off x="7909560" y="2624328"/>
            <a:ext cx="3749040" cy="841248"/>
          </a:xfrm>
          <a:prstGeom prst="roundRect">
            <a:avLst>
              <a:gd name="adj" fmla="val 6522"/>
            </a:avLst>
          </a:prstGeom>
          <a:solidFill>
            <a:srgbClr val="12315A"/>
          </a:solidFill>
          <a:ln w="9525">
            <a:solidFill>
              <a:srgbClr val="24507F"/>
            </a:solidFill>
            <a:prstDash val="solid"/>
          </a:ln>
        </p:spPr>
      </p:sp>
      <p:sp>
        <p:nvSpPr>
          <p:cNvPr id="9" name="Text 7"/>
          <p:cNvSpPr/>
          <p:nvPr/>
        </p:nvSpPr>
        <p:spPr>
          <a:xfrm>
            <a:off x="8110728" y="2724912"/>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174 items</a:t>
            </a:r>
            <a:endParaRPr lang="en-US" sz="1500" dirty="0"/>
          </a:p>
        </p:txBody>
      </p:sp>
      <p:sp>
        <p:nvSpPr>
          <p:cNvPr id="10" name="Text 8"/>
          <p:cNvSpPr/>
          <p:nvPr/>
        </p:nvSpPr>
        <p:spPr>
          <a:xfrm>
            <a:off x="8110728" y="3026664"/>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Every item tied to its policy and form reference</a:t>
            </a:r>
            <a:endParaRPr lang="en-US" sz="1050" dirty="0"/>
          </a:p>
        </p:txBody>
      </p:sp>
      <p:sp>
        <p:nvSpPr>
          <p:cNvPr id="11" name="Shape 9"/>
          <p:cNvSpPr/>
          <p:nvPr/>
        </p:nvSpPr>
        <p:spPr>
          <a:xfrm>
            <a:off x="7909560" y="3648456"/>
            <a:ext cx="3749040" cy="841248"/>
          </a:xfrm>
          <a:prstGeom prst="roundRect">
            <a:avLst>
              <a:gd name="adj" fmla="val 6522"/>
            </a:avLst>
          </a:prstGeom>
          <a:solidFill>
            <a:srgbClr val="12315A"/>
          </a:solidFill>
          <a:ln w="9525">
            <a:solidFill>
              <a:srgbClr val="24507F"/>
            </a:solidFill>
            <a:prstDash val="solid"/>
          </a:ln>
        </p:spPr>
      </p:sp>
      <p:sp>
        <p:nvSpPr>
          <p:cNvPr id="12" name="Text 10"/>
          <p:cNvSpPr/>
          <p:nvPr/>
        </p:nvSpPr>
        <p:spPr>
          <a:xfrm>
            <a:off x="8110728" y="3749040"/>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uploads</a:t>
            </a:r>
            <a:endParaRPr lang="en-US" sz="1500" dirty="0"/>
          </a:p>
        </p:txBody>
      </p:sp>
      <p:sp>
        <p:nvSpPr>
          <p:cNvPr id="13" name="Text 11"/>
          <p:cNvSpPr/>
          <p:nvPr/>
        </p:nvSpPr>
        <p:spPr>
          <a:xfrm>
            <a:off x="8110728" y="4050792"/>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OP 541 and OP 541T self-audits reconciled</a:t>
            </a:r>
            <a:endParaRPr lang="en-US" sz="1050" dirty="0"/>
          </a:p>
        </p:txBody>
      </p:sp>
      <p:sp>
        <p:nvSpPr>
          <p:cNvPr id="14" name="Shape 12"/>
          <p:cNvSpPr/>
          <p:nvPr/>
        </p:nvSpPr>
        <p:spPr>
          <a:xfrm>
            <a:off x="7909560" y="4672584"/>
            <a:ext cx="3749040" cy="841248"/>
          </a:xfrm>
          <a:prstGeom prst="roundRect">
            <a:avLst>
              <a:gd name="adj" fmla="val 6522"/>
            </a:avLst>
          </a:prstGeom>
          <a:solidFill>
            <a:srgbClr val="12315A"/>
          </a:solidFill>
          <a:ln w="9525">
            <a:solidFill>
              <a:srgbClr val="24507F"/>
            </a:solidFill>
            <a:prstDash val="solid"/>
          </a:ln>
        </p:spPr>
      </p:sp>
      <p:sp>
        <p:nvSpPr>
          <p:cNvPr id="15" name="Text 13"/>
          <p:cNvSpPr/>
          <p:nvPr/>
        </p:nvSpPr>
        <p:spPr>
          <a:xfrm>
            <a:off x="8110728" y="4773168"/>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entry</a:t>
            </a:r>
            <a:endParaRPr lang="en-US" sz="1500" dirty="0"/>
          </a:p>
        </p:txBody>
      </p:sp>
      <p:sp>
        <p:nvSpPr>
          <p:cNvPr id="16" name="Text 14"/>
          <p:cNvSpPr/>
          <p:nvPr/>
        </p:nvSpPr>
        <p:spPr>
          <a:xfrm>
            <a:off x="8110728" y="5074920"/>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Answered once, reused by every output</a:t>
            </a:r>
            <a:endParaRPr lang="en-US" sz="1050" dirty="0"/>
          </a:p>
        </p:txBody>
      </p:sp>
      <p:sp>
        <p:nvSpPr>
          <p:cNvPr id="17"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8"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1 · SET UP</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visit starts from the roster, not a blank page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Picking the Lawson number fills in the location, city, region, area code and area manager.</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322 locations on file, maintained in the app by admins — no code change, no redeploy</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Region and area manager travel with every finding, so trend data rolls up the org chart automatically</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Every roster edit writes an immutable audit entry with a full before/after snapshot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 standing backup can be restored from the roster tab in one click</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09-location-roster.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Location Roster — the company-wide reference every visit draws from</a:t>
            </a:r>
            <a:endParaRPr lang="en-US" sz="1000" dirty="0"/>
          </a:p>
        </p:txBody>
      </p:sp>
      <p:sp>
        <p:nvSpPr>
          <p:cNvPr id="11"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2"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72491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72491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2 · BINDERS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Nine checklists, each tied to its form and policy</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Y / N / N-A on every item, with a note field that becomes the corrective action wording later.</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Binders 1–5: Morning Meeting, In-Service, Site Inspection, JC / Operations, SDS / Hazmat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Policy numbers cited in an item show the current revision date as a badge — no separate lookup</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Guidance notes from the real forms sit under the items that need them</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tab rail shows issue counts and a progress bar per binder, so nothing is left half-done</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c03-morning.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Morning Meeting Binder — answers, notes and policy revision badges</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72491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72491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2 · BINDERS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long ones stay manageable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JC / Operations binder alone runs 24 items across five tabs of the real binder.</a:t>
            </a:r>
            <a:endParaRPr lang="en-US" sz="1350" dirty="0"/>
          </a:p>
        </p:txBody>
      </p:sp>
      <p:sp>
        <p:nvSpPr>
          <p:cNvPr id="6" name="Shape 4"/>
          <p:cNvSpPr/>
          <p:nvPr/>
        </p:nvSpPr>
        <p:spPr>
          <a:xfrm>
            <a:off x="1303246" y="1810512"/>
            <a:ext cx="6116883"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04-jc-binder.jpg">    </p:cNvPr>
          <p:cNvPicPr>
            <a:picLocks noChangeAspect="1"/>
          </p:cNvPicPr>
          <p:nvPr/>
        </p:nvPicPr>
        <p:blipFill>
          <a:blip r:embed="rId1"/>
          <a:stretch>
            <a:fillRect/>
          </a:stretch>
        </p:blipFill>
        <p:spPr>
          <a:xfrm>
            <a:off x="1367254" y="1874520"/>
            <a:ext cx="5988867"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JC / Operations Binder — 24 items, tab-by-tab, with the note field open on every finding</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Answer once</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The note typed here becomes the email wording, the report line, the tracker row and the follow-up item</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Nothing lost</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Every keystroke is auto-saved locally; an app update mid-visit cannot wipe the answers</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Progress visible</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Per-binder counts mean a specialist can stop and resume without re-reading the whole form</a:t>
            </a:r>
            <a:endParaRPr lang="en-US" sz="105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45643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45643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3 · FIELD VISITS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PST, PAP and ventilator home visits</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Four field forms — JC 426 Setup, JC 426 Maintenance, JC 424 PAP and JC 423 Ventilator — with the guidance in place.</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27 items on a PST setup, each with the same coaching text the paper form carries</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Patient Global ID and current Rx recorded per visit type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 free-text visit note per form, which lands in the report and the trend record</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Items reference the real forms and revision dates, so the app tracks the form, not a copy of it</a:t>
            </a:r>
            <a:endParaRPr lang="en-US" sz="1300" dirty="0"/>
          </a:p>
        </p:txBody>
      </p:sp>
      <p:sp>
        <p:nvSpPr>
          <p:cNvPr id="7" name="Shape 5"/>
          <p:cNvSpPr/>
          <p:nvPr/>
        </p:nvSpPr>
        <p:spPr>
          <a:xfrm>
            <a:off x="5129331" y="1810512"/>
            <a:ext cx="5981081"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c05-pst-setup.jpg">    </p:cNvPr>
          <p:cNvPicPr>
            <a:picLocks noChangeAspect="1"/>
          </p:cNvPicPr>
          <p:nvPr/>
        </p:nvPicPr>
        <p:blipFill>
          <a:blip r:embed="rId1"/>
          <a:stretch>
            <a:fillRect/>
          </a:stretch>
        </p:blipFill>
        <p:spPr>
          <a:xfrm>
            <a:off x="5193339" y="1874520"/>
            <a:ext cx="5853065"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PST Visit — Setup (JC 426), with patient info and per-item guidance</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4 · OP 541</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location's self-audit, uploaded and read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location completes OP 541 before the visit. The app parses that workbook — every sheet, every row.</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Sheet layout is discovered, not hardcoded: the parser finds the LOCATION column and works from there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Vehicle sheets are recognised by their unit number and grouped separately</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Re-uploading the same file never wipes answers already entered — items are matched by parse order</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uploaded file itself is never stored anywhere; only the answers are</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06a-op541-upload.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OP 541 tab before upload — the self-audit is dropped straight in</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4 · OP 541</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Every disagreement with the self-audit is flagged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location said Y. The specialist found N. That gap is the single most useful thing a readiness visit produces — and it used to be found by eye.</a:t>
            </a:r>
            <a:endParaRPr lang="en-US" sz="1350" dirty="0"/>
          </a:p>
        </p:txBody>
      </p:sp>
      <p:sp>
        <p:nvSpPr>
          <p:cNvPr id="6" name="Shape 4"/>
          <p:cNvSpPr/>
          <p:nvPr/>
        </p:nvSpPr>
        <p:spPr>
          <a:xfrm>
            <a:off x="1152746" y="1810512"/>
            <a:ext cx="641788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06-op541.jpg">    </p:cNvPr>
          <p:cNvPicPr>
            <a:picLocks noChangeAspect="1"/>
          </p:cNvPicPr>
          <p:nvPr/>
        </p:nvPicPr>
        <p:blipFill>
          <a:blip r:embed="rId1"/>
          <a:stretch>
            <a:fillRect/>
          </a:stretch>
        </p:blipFill>
        <p:spPr>
          <a:xfrm>
            <a:off x="1216754" y="1874520"/>
            <a:ext cx="628986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OP 541 on-site review — the location's own answer sits beside the specialist's, mismatches called out</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Loc: Y / N</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The location's self-audit answer is shown on every row, in place</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Mismatch flag</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A disagreement is counted in the header, badged on the tab and marked on the row</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Carried through</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Mismatches are annotated in the follow-up tracker export, not just on screen</a:t>
            </a:r>
            <a:endParaRPr lang="en-US" sz="1050" dirty="0"/>
          </a:p>
        </p:txBody>
      </p:sp>
      <p:sp>
        <p:nvSpPr>
          <p:cNvPr id="19"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5 · JC 427</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Personnel records, one column per employee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JC 427 Personnel Records Review ships inside the app — no file to hunt down, no blank template to find.</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Onboarding, training, performance review and medical-record items per employee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44 non-clinical and clinical competency assessments, each date-tracked</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Employees can be added on the spot; the app assigns the next free column, including overflow sheets</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full JC 427 instruction set is one click away, ported verbatim</a:t>
            </a:r>
            <a:endParaRPr lang="en-US" sz="1300" dirty="0"/>
          </a:p>
        </p:txBody>
      </p:sp>
      <p:sp>
        <p:nvSpPr>
          <p:cNvPr id="7" name="Shape 5"/>
          <p:cNvSpPr/>
          <p:nvPr/>
        </p:nvSpPr>
        <p:spPr>
          <a:xfrm>
            <a:off x="5129331" y="1810512"/>
            <a:ext cx="5981081"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c07-jc427.jpg">    </p:cNvPr>
          <p:cNvPicPr>
            <a:picLocks noChangeAspect="1"/>
          </p:cNvPicPr>
          <p:nvPr/>
        </p:nvPicPr>
        <p:blipFill>
          <a:blip r:embed="rId1"/>
          <a:stretch>
            <a:fillRect/>
          </a:stretch>
        </p:blipFill>
        <p:spPr>
          <a:xfrm>
            <a:off x="5193339" y="1874520"/>
            <a:ext cx="5853065"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JC 427 Personnel Records Review — employees as columns, exactly as the real sheet is laid out</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5 · JC 427</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Competency expiry, worked out for you</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Three-year validity with a six-month warning window — applied to every competency date, for every employee, instantly.</a:t>
            </a:r>
            <a:endParaRPr lang="en-US" sz="1350" dirty="0"/>
          </a:p>
        </p:txBody>
      </p:sp>
      <p:sp>
        <p:nvSpPr>
          <p:cNvPr id="6" name="Shape 4"/>
          <p:cNvSpPr/>
          <p:nvPr/>
        </p:nvSpPr>
        <p:spPr>
          <a:xfrm>
            <a:off x="1303246" y="1810512"/>
            <a:ext cx="6116883"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07b-jc427-comp.jpg">    </p:cNvPr>
          <p:cNvPicPr>
            <a:picLocks noChangeAspect="1"/>
          </p:cNvPicPr>
          <p:nvPr/>
        </p:nvPicPr>
        <p:blipFill>
          <a:blip r:embed="rId1"/>
          <a:stretch>
            <a:fillRect/>
          </a:stretch>
        </p:blipFill>
        <p:spPr>
          <a:xfrm>
            <a:off x="1367254" y="1874520"/>
            <a:ext cx="5988867"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Personnel and competency dates — red expired, amber expiring within six months, green current</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Red · expired</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Past three years from the recorded date — becomes a finding automatically</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Amber · expiring</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Inside six months of expiry — surfaced before it lapses, not after</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Into the trend data</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Expired and expiring competencies are recorded as findings when the visit is finalized</a:t>
            </a:r>
            <a:endParaRPr lang="en-US" sz="1050" dirty="0"/>
          </a:p>
        </p:txBody>
      </p:sp>
      <p:sp>
        <p:nvSpPr>
          <p:cNvPr id="19"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01752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01752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6 · REFERENCE</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Policy revision dates, current for everyone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Admins update a policy date once and every specialist's app shows it — no redeploy, no version drift.</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Revision dates appear as badges on the checklist items that cite the policy</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Edited in the app by named admins, enforced server-side by the database rules</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reference tab is read-only for everyone else, so nobody works from a stale printout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same allowlist governs the roster, so administration is one concept, not two</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c08-policy.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Policy Dates — the shared reference behind the checklist badges</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163824"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163824"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7 · CONTINUITY</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Start on an iPad, finish at a desk</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Progress is saved continuously on the device and synced to the specialist's account on demand.</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Auto-save covers every tab — including OP 541 answers — on every keystroke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"Save Progress" syncs the visit so it can be picked up on another device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 reminder fires after 30 minutes without an explicit save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Installs as an app on a phone or tablet and works with no signal in the building</a:t>
            </a:r>
            <a:endParaRPr lang="en-US" sz="1300" dirty="0"/>
          </a:p>
        </p:txBody>
      </p:sp>
      <p:sp>
        <p:nvSpPr>
          <p:cNvPr id="7" name="Shape 5"/>
          <p:cNvSpPr/>
          <p:nvPr/>
        </p:nvSpPr>
        <p:spPr>
          <a:xfrm>
            <a:off x="4697909" y="1947672"/>
            <a:ext cx="6843926" cy="3657600"/>
          </a:xfrm>
          <a:prstGeom prst="roundRect">
            <a:avLst>
              <a:gd name="adj" fmla="val 10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30-saved-visits.jpg">    </p:cNvPr>
          <p:cNvPicPr>
            <a:picLocks noChangeAspect="1"/>
          </p:cNvPicPr>
          <p:nvPr/>
        </p:nvPicPr>
        <p:blipFill>
          <a:blip r:embed="rId1"/>
          <a:stretch>
            <a:fillRect/>
          </a:stretch>
        </p:blipFill>
        <p:spPr>
          <a:xfrm>
            <a:off x="4761917" y="2011680"/>
            <a:ext cx="6715910" cy="3529584"/>
          </a:xfrm>
          <a:prstGeom prst="rect">
            <a:avLst/>
          </a:prstGeom>
        </p:spPr>
      </p:pic>
      <p:sp>
        <p:nvSpPr>
          <p:cNvPr id="9" name="Text 6"/>
          <p:cNvSpPr/>
          <p:nvPr/>
        </p:nvSpPr>
        <p:spPr>
          <a:xfrm>
            <a:off x="4617720" y="566928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Saved visits — any visit resumable from any signed-in device</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8 · REPORT</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write-up writes itself</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One click turns the answers into a complete visit overview — compliant items, findings, notes, and the scheduled follow-up call.</a:t>
            </a:r>
            <a:endParaRPr lang="en-US" sz="1350" dirty="0"/>
          </a:p>
        </p:txBody>
      </p:sp>
      <p:sp>
        <p:nvSpPr>
          <p:cNvPr id="6" name="Shape 4"/>
          <p:cNvSpPr/>
          <p:nvPr/>
        </p:nvSpPr>
        <p:spPr>
          <a:xfrm>
            <a:off x="1152746" y="1810512"/>
            <a:ext cx="641788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20-report-top.jpg">    </p:cNvPr>
          <p:cNvPicPr>
            <a:picLocks noChangeAspect="1"/>
          </p:cNvPicPr>
          <p:nvPr/>
        </p:nvPicPr>
        <p:blipFill>
          <a:blip r:embed="rId1"/>
          <a:stretch>
            <a:fillRect/>
          </a:stretch>
        </p:blipFill>
        <p:spPr>
          <a:xfrm>
            <a:off x="1216754" y="1874520"/>
            <a:ext cx="628986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Survey Prep Report — generated from the visit, not retyped from it</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Totals up front</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Total compliant and total issues, before any detail</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Findings first</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Each section leads with items requiring corrective action and the note recorded on site</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Compliant listed too</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The evidence that an area was actually reviewed, not skipped</a:t>
            </a:r>
            <a:endParaRPr lang="en-US" sz="105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57860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57860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8 · REPORT</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Section by section, in the order the binders sit</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same report continues through every checklist, the OP 541 sheets and each vehicle unit.</a:t>
            </a:r>
            <a:endParaRPr lang="en-US" sz="1350" dirty="0"/>
          </a:p>
        </p:txBody>
      </p:sp>
      <p:sp>
        <p:nvSpPr>
          <p:cNvPr id="6" name="Shape 4"/>
          <p:cNvSpPr/>
          <p:nvPr/>
        </p:nvSpPr>
        <p:spPr>
          <a:xfrm>
            <a:off x="2719105" y="1810512"/>
            <a:ext cx="6750742"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20b-report-detail.jpg">    </p:cNvPr>
          <p:cNvPicPr>
            <a:picLocks noChangeAspect="1"/>
          </p:cNvPicPr>
          <p:nvPr/>
        </p:nvPicPr>
        <p:blipFill>
          <a:blip r:embed="rId1"/>
          <a:stretch>
            <a:fillRect/>
          </a:stretch>
        </p:blipFill>
        <p:spPr>
          <a:xfrm>
            <a:off x="2783113" y="1874520"/>
            <a:ext cx="6622726" cy="4032504"/>
          </a:xfrm>
          <a:prstGeom prst="rect">
            <a:avLst/>
          </a:prstGeom>
        </p:spPr>
      </p:pic>
      <p:sp>
        <p:nvSpPr>
          <p:cNvPr id="8" name="Text 5"/>
          <p:cNvSpPr/>
          <p:nvPr/>
        </p:nvSpPr>
        <p:spPr>
          <a:xfrm>
            <a:off x="566928" y="6035040"/>
            <a:ext cx="11055096"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Report detail — findings, notes, compliant items and mismatch callouts per section</a:t>
            </a:r>
            <a:endParaRPr lang="en-US" sz="1000" dirty="0"/>
          </a:p>
        </p:txBody>
      </p:sp>
      <p:sp>
        <p:nvSpPr>
          <p:cNvPr id="9" name="Text 6"/>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0" name="Text 7"/>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01752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01752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STEP 9 · FOLLOW-UP</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follow-up email, already written</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Addressed, dated, and populated with every finding and its note — ready to copy into Outlook.</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Subject line carries the location, city and visit date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Findings listed with their section and the note recorded on site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Clean visits get the compliant wording automatically instead of an empty list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Teams follow-up call date and time are captured on the visit and printed on the report</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27-email-draft.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Generated follow-up email — copy, paste, send</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66928" y="1371600"/>
            <a:ext cx="2194560" cy="1554480"/>
          </a:xfrm>
          <a:prstGeom prst="rect">
            <a:avLst/>
          </a:prstGeom>
          <a:noFill/>
          <a:ln/>
        </p:spPr>
        <p:txBody>
          <a:bodyPr wrap="square" lIns="0" tIns="0" rIns="0" bIns="0" rtlCol="0" anchor="ctr"/>
          <a:lstStyle/>
          <a:p>
            <a:pPr indent="0" marL="0">
              <a:buNone/>
            </a:pPr>
            <a:r>
              <a:rPr lang="en-US" sz="9600" b="1" dirty="0">
                <a:solidFill>
                  <a:srgbClr val="1E4E80"/>
                </a:solidFill>
                <a:latin typeface="Cambria" pitchFamily="34" charset="0"/>
                <a:ea typeface="Cambria" pitchFamily="34" charset="-122"/>
                <a:cs typeface="Cambria" pitchFamily="34" charset="-120"/>
              </a:rPr>
              <a:t>02</a:t>
            </a:r>
            <a:endParaRPr lang="en-US" sz="9600" dirty="0"/>
          </a:p>
        </p:txBody>
      </p:sp>
      <p:sp>
        <p:nvSpPr>
          <p:cNvPr id="3" name="Text 1"/>
          <p:cNvSpPr/>
          <p:nvPr/>
        </p:nvSpPr>
        <p:spPr>
          <a:xfrm>
            <a:off x="566928" y="2834640"/>
            <a:ext cx="69494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comes out of a visit</a:t>
            </a:r>
            <a:endParaRPr lang="en-US" sz="3800" dirty="0"/>
          </a:p>
        </p:txBody>
      </p:sp>
      <p:sp>
        <p:nvSpPr>
          <p:cNvPr id="4" name="Text 2"/>
          <p:cNvSpPr/>
          <p:nvPr/>
        </p:nvSpPr>
        <p:spPr>
          <a:xfrm>
            <a:off x="566928" y="3794760"/>
            <a:ext cx="6766560" cy="1828800"/>
          </a:xfrm>
          <a:prstGeom prst="rect">
            <a:avLst/>
          </a:prstGeom>
          <a:noFill/>
          <a:ln/>
        </p:spPr>
        <p:txBody>
          <a:bodyPr wrap="square" lIns="0" tIns="0" rIns="0" bIns="0" rtlCol="0" anchor="t"/>
          <a:lstStyle/>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Five outputs, all generated from the same answers — nothing is retyped, and nothing can disagree with anything else.</a:t>
            </a:r>
            <a:endParaRPr lang="en-US" sz="1450" dirty="0"/>
          </a:p>
        </p:txBody>
      </p:sp>
      <p:sp>
        <p:nvSpPr>
          <p:cNvPr id="5" name="Shape 3"/>
          <p:cNvSpPr/>
          <p:nvPr/>
        </p:nvSpPr>
        <p:spPr>
          <a:xfrm>
            <a:off x="7909560" y="1600200"/>
            <a:ext cx="3749040" cy="841248"/>
          </a:xfrm>
          <a:prstGeom prst="roundRect">
            <a:avLst>
              <a:gd name="adj" fmla="val 6522"/>
            </a:avLst>
          </a:prstGeom>
          <a:solidFill>
            <a:srgbClr val="12315A"/>
          </a:solidFill>
          <a:ln w="9525">
            <a:solidFill>
              <a:srgbClr val="24507F"/>
            </a:solidFill>
            <a:prstDash val="solid"/>
          </a:ln>
        </p:spPr>
      </p:sp>
      <p:sp>
        <p:nvSpPr>
          <p:cNvPr id="6" name="Text 4"/>
          <p:cNvSpPr/>
          <p:nvPr/>
        </p:nvSpPr>
        <p:spPr>
          <a:xfrm>
            <a:off x="8110728" y="1700784"/>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 541</a:t>
            </a:r>
            <a:endParaRPr lang="en-US" sz="1500" dirty="0"/>
          </a:p>
        </p:txBody>
      </p:sp>
      <p:sp>
        <p:nvSpPr>
          <p:cNvPr id="7" name="Text 5"/>
          <p:cNvSpPr/>
          <p:nvPr/>
        </p:nvSpPr>
        <p:spPr>
          <a:xfrm>
            <a:off x="8110728" y="2002536"/>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Written back into the original workbook</a:t>
            </a:r>
            <a:endParaRPr lang="en-US" sz="1050" dirty="0"/>
          </a:p>
        </p:txBody>
      </p:sp>
      <p:sp>
        <p:nvSpPr>
          <p:cNvPr id="8" name="Shape 6"/>
          <p:cNvSpPr/>
          <p:nvPr/>
        </p:nvSpPr>
        <p:spPr>
          <a:xfrm>
            <a:off x="7909560" y="2624328"/>
            <a:ext cx="3749040" cy="841248"/>
          </a:xfrm>
          <a:prstGeom prst="roundRect">
            <a:avLst>
              <a:gd name="adj" fmla="val 6522"/>
            </a:avLst>
          </a:prstGeom>
          <a:solidFill>
            <a:srgbClr val="12315A"/>
          </a:solidFill>
          <a:ln w="9525">
            <a:solidFill>
              <a:srgbClr val="24507F"/>
            </a:solidFill>
            <a:prstDash val="solid"/>
          </a:ln>
        </p:spPr>
      </p:sp>
      <p:sp>
        <p:nvSpPr>
          <p:cNvPr id="9" name="Text 7"/>
          <p:cNvSpPr/>
          <p:nvPr/>
        </p:nvSpPr>
        <p:spPr>
          <a:xfrm>
            <a:off x="8110728" y="2724912"/>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Tracker</a:t>
            </a:r>
            <a:endParaRPr lang="en-US" sz="1500" dirty="0"/>
          </a:p>
        </p:txBody>
      </p:sp>
      <p:sp>
        <p:nvSpPr>
          <p:cNvPr id="10" name="Text 8"/>
          <p:cNvSpPr/>
          <p:nvPr/>
        </p:nvSpPr>
        <p:spPr>
          <a:xfrm>
            <a:off x="8110728" y="3026664"/>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Follow-up workbook, one sheet per area</a:t>
            </a:r>
            <a:endParaRPr lang="en-US" sz="1050" dirty="0"/>
          </a:p>
        </p:txBody>
      </p:sp>
      <p:sp>
        <p:nvSpPr>
          <p:cNvPr id="11" name="Shape 9"/>
          <p:cNvSpPr/>
          <p:nvPr/>
        </p:nvSpPr>
        <p:spPr>
          <a:xfrm>
            <a:off x="7909560" y="3648456"/>
            <a:ext cx="3749040" cy="841248"/>
          </a:xfrm>
          <a:prstGeom prst="roundRect">
            <a:avLst>
              <a:gd name="adj" fmla="val 6522"/>
            </a:avLst>
          </a:prstGeom>
          <a:solidFill>
            <a:srgbClr val="12315A"/>
          </a:solidFill>
          <a:ln w="9525">
            <a:solidFill>
              <a:srgbClr val="24507F"/>
            </a:solidFill>
            <a:prstDash val="solid"/>
          </a:ln>
        </p:spPr>
      </p:sp>
      <p:sp>
        <p:nvSpPr>
          <p:cNvPr id="12" name="Text 10"/>
          <p:cNvSpPr/>
          <p:nvPr/>
        </p:nvSpPr>
        <p:spPr>
          <a:xfrm>
            <a:off x="8110728" y="3749040"/>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PDF</a:t>
            </a:r>
            <a:endParaRPr lang="en-US" sz="1500" dirty="0"/>
          </a:p>
        </p:txBody>
      </p:sp>
      <p:sp>
        <p:nvSpPr>
          <p:cNvPr id="13" name="Text 11"/>
          <p:cNvSpPr/>
          <p:nvPr/>
        </p:nvSpPr>
        <p:spPr>
          <a:xfrm>
            <a:off x="8110728" y="4050792"/>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Full visit overview plus a data backup</a:t>
            </a:r>
            <a:endParaRPr lang="en-US" sz="1050" dirty="0"/>
          </a:p>
        </p:txBody>
      </p:sp>
      <p:sp>
        <p:nvSpPr>
          <p:cNvPr id="14" name="Shape 12"/>
          <p:cNvSpPr/>
          <p:nvPr/>
        </p:nvSpPr>
        <p:spPr>
          <a:xfrm>
            <a:off x="7909560" y="4672584"/>
            <a:ext cx="3749040" cy="841248"/>
          </a:xfrm>
          <a:prstGeom prst="roundRect">
            <a:avLst>
              <a:gd name="adj" fmla="val 6522"/>
            </a:avLst>
          </a:prstGeom>
          <a:solidFill>
            <a:srgbClr val="12315A"/>
          </a:solidFill>
          <a:ln w="9525">
            <a:solidFill>
              <a:srgbClr val="24507F"/>
            </a:solidFill>
            <a:prstDash val="solid"/>
          </a:ln>
        </p:spPr>
      </p:sp>
      <p:sp>
        <p:nvSpPr>
          <p:cNvPr id="15" name="Text 13"/>
          <p:cNvSpPr/>
          <p:nvPr/>
        </p:nvSpPr>
        <p:spPr>
          <a:xfrm>
            <a:off x="8110728" y="4773168"/>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Checklist</a:t>
            </a:r>
            <a:endParaRPr lang="en-US" sz="1500" dirty="0"/>
          </a:p>
        </p:txBody>
      </p:sp>
      <p:sp>
        <p:nvSpPr>
          <p:cNvPr id="16" name="Text 14"/>
          <p:cNvSpPr/>
          <p:nvPr/>
        </p:nvSpPr>
        <p:spPr>
          <a:xfrm>
            <a:off x="8110728" y="5074920"/>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A live link for the location manager</a:t>
            </a:r>
            <a:endParaRPr lang="en-US" sz="1050" dirty="0"/>
          </a:p>
        </p:txBody>
      </p:sp>
      <p:sp>
        <p:nvSpPr>
          <p:cNvPr id="17"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8"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408176"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408176"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EXPORTS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Every output the app produces</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All five come from one set of answers, so the tracker, the report and the trend record can never drift apart.</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914400"/>
        </p:xfrm>
        <a:graphic>
          <a:graphicData uri="http://schemas.openxmlformats.org/drawingml/2006/table">
            <a:tbl>
              <a:tblPr/>
              <a:tblGrid>
                <a:gridCol w="2286000"/>
                <a:gridCol w="1554480"/>
                <a:gridCol w="2103120"/>
                <a:gridCol w="5129784"/>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Format</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it goes to</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makes it different</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r>
              <a:tr h="56692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Updated OP 541 / 541T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.xlsx</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Location, area manager</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Written into the location's own file — formatting, formulas and layout untouched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Follow-Up Tracker</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.xlsx</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LCM and area manager</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One sheet per binder or form, with a Yes / No / Pending dropdown and colour rules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56692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Visit Overview</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PDF</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Region, file</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Printed from the report, with an automatic data backup file alongside it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Follow-Up Checklist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Web link</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Location manager</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Live — the specialist sees items ticked off as they are completed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56692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Issue Trend workbook</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.xlsx</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Leadership</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Eight sheets, scoped to whatever filters are on screen</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632704"/>
            <a:ext cx="11055096" cy="457200"/>
          </a:xfrm>
          <a:prstGeom prst="rect">
            <a:avLst/>
          </a:prstGeom>
          <a:noFill/>
          <a:ln/>
        </p:spPr>
        <p:txBody>
          <a:bodyPr wrap="square" lIns="0" tIns="0" rIns="0" bIns="0" rtlCol="0" anchor="t"/>
          <a:lstStyle/>
          <a:p>
            <a:pPr indent="0" marL="0">
              <a:lnSpc>
                <a:spcPts val="1400"/>
              </a:lnSpc>
              <a:buNone/>
            </a:pPr>
            <a:r>
              <a:rPr lang="en-US" sz="1050" i="1" dirty="0">
                <a:solidFill>
                  <a:srgbClr val="8A94A1"/>
                </a:solidFill>
                <a:latin typeface="Calibri" pitchFamily="34" charset="0"/>
                <a:ea typeface="Calibri" pitchFamily="34" charset="-122"/>
                <a:cs typeface="Calibri" pitchFamily="34" charset="-120"/>
              </a:rPr>
              <a:t>Every filename carries the location, city and visit date, so a folder of exports sorts and searches without being renamed.</a:t>
            </a:r>
            <a:endParaRPr lang="en-US" sz="1050" dirty="0"/>
          </a:p>
        </p:txBody>
      </p:sp>
      <p:sp>
        <p:nvSpPr>
          <p:cNvPr id="8" name="Text 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9" name="Text 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EXPORT 1</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OP 541 goes back as the location's own file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app writes the on-site answers into the uploaded workbook's actual cells. It does not rebuild the file.</a:t>
            </a:r>
            <a:endParaRPr lang="en-US" sz="1350" dirty="0"/>
          </a:p>
        </p:txBody>
      </p:sp>
      <p:sp>
        <p:nvSpPr>
          <p:cNvPr id="6" name="Shape 4"/>
          <p:cNvSpPr/>
          <p:nvPr/>
        </p:nvSpPr>
        <p:spPr>
          <a:xfrm>
            <a:off x="1152746" y="1810512"/>
            <a:ext cx="641788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06-op541.jpg">    </p:cNvPr>
          <p:cNvPicPr>
            <a:picLocks noChangeAspect="1"/>
          </p:cNvPicPr>
          <p:nvPr/>
        </p:nvPicPr>
        <p:blipFill>
          <a:blip r:embed="rId1"/>
          <a:stretch>
            <a:fillRect/>
          </a:stretch>
        </p:blipFill>
        <p:spPr>
          <a:xfrm>
            <a:off x="1216754" y="1874520"/>
            <a:ext cx="628986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"Export Updated OP 541" — the same workbook, now carrying the on-site column</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Cell-level patching</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Only the answer and comment cells are rewritten; styles, formulas and conditional formatting survive intact</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Comments preserved</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Specialist notes are written into the Comments column and as native Excel cell notes</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Confirmed on export</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The app reports how many values it wrote and across how many sheets</a:t>
            </a:r>
            <a:endParaRPr lang="en-US" sz="1050" dirty="0"/>
          </a:p>
        </p:txBody>
      </p:sp>
      <p:sp>
        <p:nvSpPr>
          <p:cNvPr id="19"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EXPORT 2</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follow-up tracker, ready to work from</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One workbook, one sheet per binder or form that actually has findings. Nothing empty is exported.</a:t>
            </a:r>
            <a:endParaRPr lang="en-US" sz="1350" dirty="0"/>
          </a:p>
        </p:txBody>
      </p:sp>
      <p:sp>
        <p:nvSpPr>
          <p:cNvPr id="6" name="Shape 4"/>
          <p:cNvSpPr/>
          <p:nvPr/>
        </p:nvSpPr>
        <p:spPr>
          <a:xfrm>
            <a:off x="566928" y="1965960"/>
            <a:ext cx="3532632" cy="1371600"/>
          </a:xfrm>
          <a:prstGeom prst="roundRect">
            <a:avLst>
              <a:gd name="adj" fmla="val 40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Text 5"/>
          <p:cNvSpPr/>
          <p:nvPr/>
        </p:nvSpPr>
        <p:spPr>
          <a:xfrm>
            <a:off x="768096" y="2121408"/>
            <a:ext cx="3130296" cy="329184"/>
          </a:xfrm>
          <a:prstGeom prst="rect">
            <a:avLst/>
          </a:prstGeom>
          <a:noFill/>
          <a:ln/>
        </p:spPr>
        <p:txBody>
          <a:bodyPr wrap="square" lIns="0" tIns="0" rIns="0" bIns="0" rtlCol="0" anchor="ctr"/>
          <a:lstStyle/>
          <a:p>
            <a:pPr indent="0" marL="0">
              <a:buNone/>
            </a:pPr>
            <a:r>
              <a:rPr lang="en-US" sz="1600" b="1" dirty="0">
                <a:solidFill>
                  <a:srgbClr val="0053A1"/>
                </a:solidFill>
                <a:latin typeface="Cambria" pitchFamily="34" charset="0"/>
                <a:ea typeface="Cambria" pitchFamily="34" charset="-122"/>
                <a:cs typeface="Cambria" pitchFamily="34" charset="-120"/>
              </a:rPr>
              <a:t>Item / Finding</a:t>
            </a:r>
            <a:endParaRPr lang="en-US" sz="1600" dirty="0"/>
          </a:p>
        </p:txBody>
      </p:sp>
      <p:sp>
        <p:nvSpPr>
          <p:cNvPr id="8" name="Text 6"/>
          <p:cNvSpPr/>
          <p:nvPr/>
        </p:nvSpPr>
        <p:spPr>
          <a:xfrm>
            <a:off x="768096" y="2468880"/>
            <a:ext cx="3130296" cy="713232"/>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The finding, in the words of the form</a:t>
            </a:r>
            <a:endParaRPr lang="en-US" sz="1200" dirty="0"/>
          </a:p>
        </p:txBody>
      </p:sp>
      <p:sp>
        <p:nvSpPr>
          <p:cNvPr id="9" name="Shape 7"/>
          <p:cNvSpPr/>
          <p:nvPr/>
        </p:nvSpPr>
        <p:spPr>
          <a:xfrm>
            <a:off x="4328160" y="1965960"/>
            <a:ext cx="3532632" cy="1371600"/>
          </a:xfrm>
          <a:prstGeom prst="roundRect">
            <a:avLst>
              <a:gd name="adj" fmla="val 40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8"/>
          <p:cNvSpPr/>
          <p:nvPr/>
        </p:nvSpPr>
        <p:spPr>
          <a:xfrm>
            <a:off x="4529328" y="2121408"/>
            <a:ext cx="3130296" cy="329184"/>
          </a:xfrm>
          <a:prstGeom prst="rect">
            <a:avLst/>
          </a:prstGeom>
          <a:noFill/>
          <a:ln/>
        </p:spPr>
        <p:txBody>
          <a:bodyPr wrap="square" lIns="0" tIns="0" rIns="0" bIns="0" rtlCol="0" anchor="ctr"/>
          <a:lstStyle/>
          <a:p>
            <a:pPr indent="0" marL="0">
              <a:buNone/>
            </a:pPr>
            <a:r>
              <a:rPr lang="en-US" sz="1600" b="1" dirty="0">
                <a:solidFill>
                  <a:srgbClr val="1D7A4D"/>
                </a:solidFill>
                <a:latin typeface="Cambria" pitchFamily="34" charset="0"/>
                <a:ea typeface="Cambria" pitchFamily="34" charset="-122"/>
                <a:cs typeface="Cambria" pitchFamily="34" charset="-120"/>
              </a:rPr>
              <a:t>Corrected?</a:t>
            </a:r>
            <a:endParaRPr lang="en-US" sz="1600" dirty="0"/>
          </a:p>
        </p:txBody>
      </p:sp>
      <p:sp>
        <p:nvSpPr>
          <p:cNvPr id="11" name="Text 9"/>
          <p:cNvSpPr/>
          <p:nvPr/>
        </p:nvSpPr>
        <p:spPr>
          <a:xfrm>
            <a:off x="4529328" y="2468880"/>
            <a:ext cx="3130296" cy="713232"/>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Yes / No / Pending dropdown, validated on entry</a:t>
            </a:r>
            <a:endParaRPr lang="en-US" sz="1200" dirty="0"/>
          </a:p>
        </p:txBody>
      </p:sp>
      <p:sp>
        <p:nvSpPr>
          <p:cNvPr id="12" name="Shape 10"/>
          <p:cNvSpPr/>
          <p:nvPr/>
        </p:nvSpPr>
        <p:spPr>
          <a:xfrm>
            <a:off x="8089392" y="1965960"/>
            <a:ext cx="3532632" cy="1371600"/>
          </a:xfrm>
          <a:prstGeom prst="roundRect">
            <a:avLst>
              <a:gd name="adj" fmla="val 4000"/>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1"/>
          <p:cNvSpPr/>
          <p:nvPr/>
        </p:nvSpPr>
        <p:spPr>
          <a:xfrm>
            <a:off x="8290560" y="2121408"/>
            <a:ext cx="3130296" cy="329184"/>
          </a:xfrm>
          <a:prstGeom prst="rect">
            <a:avLst/>
          </a:prstGeom>
          <a:noFill/>
          <a:ln/>
        </p:spPr>
        <p:txBody>
          <a:bodyPr wrap="square" lIns="0" tIns="0" rIns="0" bIns="0" rtlCol="0" anchor="ctr"/>
          <a:lstStyle/>
          <a:p>
            <a:pPr indent="0" marL="0">
              <a:buNone/>
            </a:pPr>
            <a:r>
              <a:rPr lang="en-US" sz="1600" b="1" dirty="0">
                <a:solidFill>
                  <a:srgbClr val="B87A00"/>
                </a:solidFill>
                <a:latin typeface="Cambria" pitchFamily="34" charset="0"/>
                <a:ea typeface="Cambria" pitchFamily="34" charset="-122"/>
                <a:cs typeface="Cambria" pitchFamily="34" charset="-120"/>
              </a:rPr>
              <a:t>Notes / Comments</a:t>
            </a:r>
            <a:endParaRPr lang="en-US" sz="1600" dirty="0"/>
          </a:p>
        </p:txBody>
      </p:sp>
      <p:sp>
        <p:nvSpPr>
          <p:cNvPr id="14" name="Text 12"/>
          <p:cNvSpPr/>
          <p:nvPr/>
        </p:nvSpPr>
        <p:spPr>
          <a:xfrm>
            <a:off x="8290560" y="2468880"/>
            <a:ext cx="3130296" cy="713232"/>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The specialist's note, plus any self-audit mismatch warning</a:t>
            </a:r>
            <a:endParaRPr lang="en-US" sz="1200" dirty="0"/>
          </a:p>
        </p:txBody>
      </p:sp>
      <p:sp>
        <p:nvSpPr>
          <p:cNvPr id="15" name="Shape 13"/>
          <p:cNvSpPr/>
          <p:nvPr/>
        </p:nvSpPr>
        <p:spPr>
          <a:xfrm>
            <a:off x="566928" y="3566160"/>
            <a:ext cx="11055096" cy="2377440"/>
          </a:xfrm>
          <a:prstGeom prst="roundRect">
            <a:avLst>
              <a:gd name="adj" fmla="val 2308"/>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4"/>
          <p:cNvSpPr/>
          <p:nvPr/>
        </p:nvSpPr>
        <p:spPr>
          <a:xfrm>
            <a:off x="841248" y="3730752"/>
            <a:ext cx="1005840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What the file does that a pasted list cannot</a:t>
            </a:r>
            <a:endParaRPr lang="en-US" sz="1700" dirty="0"/>
          </a:p>
        </p:txBody>
      </p:sp>
      <p:sp>
        <p:nvSpPr>
          <p:cNvPr id="17" name="Text 15"/>
          <p:cNvSpPr/>
          <p:nvPr/>
        </p:nvSpPr>
        <p:spPr>
          <a:xfrm>
            <a:off x="841248" y="4114800"/>
            <a:ext cx="10515600" cy="1737360"/>
          </a:xfrm>
          <a:prstGeom prst="rect">
            <a:avLst/>
          </a:prstGeom>
          <a:noFill/>
          <a:ln/>
        </p:spPr>
        <p:txBody>
          <a:bodyPr wrap="square" lIns="0" tIns="0" rIns="0" bIns="0" rtlCol="0" anchor="t"/>
          <a:lstStyle/>
          <a:p>
            <a:pPr marL="342900" indent="-342900">
              <a:lnSpc>
                <a:spcPts val="1700"/>
              </a:lnSpc>
              <a:spcAft>
                <a:spcPts val="500"/>
              </a:spcAft>
              <a:buSzPct val="100000"/>
              <a:buChar char="▪"/>
            </a:pPr>
            <a:r>
              <a:rPr lang="en-US" sz="1250" dirty="0">
                <a:solidFill>
                  <a:srgbClr val="131922"/>
                </a:solidFill>
                <a:latin typeface="Calibri" pitchFamily="34" charset="0"/>
                <a:ea typeface="Calibri" pitchFamily="34" charset="-122"/>
                <a:cs typeface="Calibri" pitchFamily="34" charset="-120"/>
              </a:rPr>
              <a:t>Turns green on Yes, red on No and amber on Pending — status is readable at a glance across a long list</a:t>
            </a:r>
            <a:endParaRPr lang="en-US" sz="1250" dirty="0"/>
          </a:p>
          <a:p>
            <a:pPr marL="342900" indent="-342900">
              <a:lnSpc>
                <a:spcPts val="1700"/>
              </a:lnSpc>
              <a:spcAft>
                <a:spcPts val="500"/>
              </a:spcAft>
              <a:buSzPct val="100000"/>
              <a:buChar char="▪"/>
            </a:pPr>
            <a:r>
              <a:rPr lang="en-US" sz="1250" dirty="0">
                <a:solidFill>
                  <a:srgbClr val="131922"/>
                </a:solidFill>
                <a:latin typeface="Calibri" pitchFamily="34" charset="0"/>
                <a:ea typeface="Calibri" pitchFamily="34" charset="-122"/>
                <a:cs typeface="Calibri" pitchFamily="34" charset="-120"/>
              </a:rPr>
              <a:t>Rejects anything that is not Yes, No or Pending, so the column stays countable</a:t>
            </a:r>
            <a:endParaRPr lang="en-US" sz="1250" dirty="0"/>
          </a:p>
          <a:p>
            <a:pPr marL="342900" indent="-342900">
              <a:lnSpc>
                <a:spcPts val="1700"/>
              </a:lnSpc>
              <a:spcAft>
                <a:spcPts val="500"/>
              </a:spcAft>
              <a:buSzPct val="100000"/>
              <a:buChar char="▪"/>
            </a:pPr>
            <a:r>
              <a:rPr lang="en-US" sz="1250" dirty="0">
                <a:solidFill>
                  <a:srgbClr val="131922"/>
                </a:solidFill>
                <a:latin typeface="Calibri" pitchFamily="34" charset="0"/>
                <a:ea typeface="Calibri" pitchFamily="34" charset="-122"/>
                <a:cs typeface="Calibri" pitchFamily="34" charset="-120"/>
              </a:rPr>
              <a:t>Freezes the title, visit details and column headers, so a 200-row sheet stays navigable</a:t>
            </a:r>
            <a:endParaRPr lang="en-US" sz="1250" dirty="0"/>
          </a:p>
          <a:p>
            <a:pPr marL="342900" indent="-342900">
              <a:lnSpc>
                <a:spcPts val="1700"/>
              </a:lnSpc>
              <a:spcAft>
                <a:spcPts val="500"/>
              </a:spcAft>
              <a:buSzPct val="100000"/>
              <a:buChar char="▪"/>
            </a:pPr>
            <a:r>
              <a:rPr lang="en-US" sz="1250" dirty="0">
                <a:solidFill>
                  <a:srgbClr val="131922"/>
                </a:solidFill>
                <a:latin typeface="Calibri" pitchFamily="34" charset="0"/>
                <a:ea typeface="Calibri" pitchFamily="34" charset="-122"/>
                <a:cs typeface="Calibri" pitchFamily="34" charset="-120"/>
              </a:rPr>
              <a:t>Flags any finding where the location's own self-audit had claimed compliance</a:t>
            </a:r>
            <a:endParaRPr lang="en-US" sz="1250" dirty="0"/>
          </a:p>
          <a:p>
            <a:pPr marL="342900" indent="-342900">
              <a:lnSpc>
                <a:spcPts val="1700"/>
              </a:lnSpc>
              <a:spcAft>
                <a:spcPts val="500"/>
              </a:spcAft>
              <a:buSzPct val="100000"/>
              <a:buChar char="▪"/>
            </a:pPr>
            <a:r>
              <a:rPr lang="en-US" sz="1250" dirty="0">
                <a:solidFill>
                  <a:srgbClr val="131922"/>
                </a:solidFill>
                <a:latin typeface="Calibri" pitchFamily="34" charset="0"/>
                <a:ea typeface="Calibri" pitchFamily="34" charset="-122"/>
                <a:cs typeface="Calibri" pitchFamily="34" charset="-120"/>
              </a:rPr>
              <a:t>Sheet names mirror the binder names, so the workbook maps onto the physical binders on the shelf</a:t>
            </a:r>
            <a:endParaRPr lang="en-US" sz="1250" dirty="0"/>
          </a:p>
        </p:txBody>
      </p:sp>
      <p:sp>
        <p:nvSpPr>
          <p:cNvPr id="19" name="Text 16"/>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7"/>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EXPORT 4</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A follow-up checklist the manager ticks off</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 link, not an attachment. The location works through it, and the specialist watches progress without asking.</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Grouped the way the work is done — Binders, Warehouse, PST Visits, Vehicles, Personnel</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Each item carries the note the specialist made on site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 notes box for the location to reply in</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Regenerating after an update keeps everything already ticked</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26-followup-checklist-shared.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The shared follow-up checklist, as the location manager sees it (sample data)</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EXPORT 4</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And a dashboard of every follow-up open right now</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Across all locations and all specialists — what is outstanding, and how much of it.</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Open and completed checklists, oldest first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Progress shown as items remaining out of total, per location</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Link copying built in, for chasing by email</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Answers the question "where do we actually stand" without a status meeting</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10-followup-dashboard.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Follow-Up Dashboard — company-wide progress on open corrective actions (sample data)</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66928" y="1371600"/>
            <a:ext cx="2194560" cy="1554480"/>
          </a:xfrm>
          <a:prstGeom prst="rect">
            <a:avLst/>
          </a:prstGeom>
          <a:noFill/>
          <a:ln/>
        </p:spPr>
        <p:txBody>
          <a:bodyPr wrap="square" lIns="0" tIns="0" rIns="0" bIns="0" rtlCol="0" anchor="ctr"/>
          <a:lstStyle/>
          <a:p>
            <a:pPr indent="0" marL="0">
              <a:buNone/>
            </a:pPr>
            <a:r>
              <a:rPr lang="en-US" sz="9600" b="1" dirty="0">
                <a:solidFill>
                  <a:srgbClr val="1E4E80"/>
                </a:solidFill>
                <a:latin typeface="Cambria" pitchFamily="34" charset="0"/>
                <a:ea typeface="Cambria" pitchFamily="34" charset="-122"/>
                <a:cs typeface="Cambria" pitchFamily="34" charset="-120"/>
              </a:rPr>
              <a:t>03</a:t>
            </a:r>
            <a:endParaRPr lang="en-US" sz="9600" dirty="0"/>
          </a:p>
        </p:txBody>
      </p:sp>
      <p:sp>
        <p:nvSpPr>
          <p:cNvPr id="3" name="Text 1"/>
          <p:cNvSpPr/>
          <p:nvPr/>
        </p:nvSpPr>
        <p:spPr>
          <a:xfrm>
            <a:off x="566928" y="2834640"/>
            <a:ext cx="69494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Trend data</a:t>
            </a:r>
            <a:endParaRPr lang="en-US" sz="3800" dirty="0"/>
          </a:p>
        </p:txBody>
      </p:sp>
      <p:sp>
        <p:nvSpPr>
          <p:cNvPr id="4" name="Text 2"/>
          <p:cNvSpPr/>
          <p:nvPr/>
        </p:nvSpPr>
        <p:spPr>
          <a:xfrm>
            <a:off x="566928" y="3794760"/>
            <a:ext cx="6766560" cy="1828800"/>
          </a:xfrm>
          <a:prstGeom prst="rect">
            <a:avLst/>
          </a:prstGeom>
          <a:noFill/>
          <a:ln/>
        </p:spPr>
        <p:txBody>
          <a:bodyPr wrap="square" lIns="0" tIns="0" rIns="0" bIns="0" rtlCol="0" anchor="t"/>
          <a:lstStyle/>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Finalizing a visit writes every finding into one company-wide dataset. This is the part that did not exist before at all.</a:t>
            </a:r>
            <a:endParaRPr lang="en-US" sz="1450" dirty="0"/>
          </a:p>
          <a:p>
            <a:pPr indent="0" marL="0">
              <a:lnSpc>
                <a:spcPts val="2100"/>
              </a:lnSpc>
              <a:buNone/>
            </a:pPr>
            <a:endParaRPr lang="en-US" sz="1450" dirty="0"/>
          </a:p>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Every figure on the trend and weighting screens that follow comes from a sample dataset built for this deck — the layout is live, the numbers are not ours.</a:t>
            </a:r>
            <a:endParaRPr lang="en-US" sz="1450" dirty="0"/>
          </a:p>
        </p:txBody>
      </p:sp>
      <p:sp>
        <p:nvSpPr>
          <p:cNvPr id="5" name="Shape 3"/>
          <p:cNvSpPr/>
          <p:nvPr/>
        </p:nvSpPr>
        <p:spPr>
          <a:xfrm>
            <a:off x="7909560" y="1600200"/>
            <a:ext cx="3749040" cy="841248"/>
          </a:xfrm>
          <a:prstGeom prst="roundRect">
            <a:avLst>
              <a:gd name="adj" fmla="val 6522"/>
            </a:avLst>
          </a:prstGeom>
          <a:solidFill>
            <a:srgbClr val="12315A"/>
          </a:solidFill>
          <a:ln w="9525">
            <a:solidFill>
              <a:srgbClr val="24507F"/>
            </a:solidFill>
            <a:prstDash val="solid"/>
          </a:ln>
        </p:spPr>
      </p:sp>
      <p:sp>
        <p:nvSpPr>
          <p:cNvPr id="6" name="Text 4"/>
          <p:cNvSpPr/>
          <p:nvPr/>
        </p:nvSpPr>
        <p:spPr>
          <a:xfrm>
            <a:off x="8110728" y="1700784"/>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Every finding</a:t>
            </a:r>
            <a:endParaRPr lang="en-US" sz="1500" dirty="0"/>
          </a:p>
        </p:txBody>
      </p:sp>
      <p:sp>
        <p:nvSpPr>
          <p:cNvPr id="7" name="Text 5"/>
          <p:cNvSpPr/>
          <p:nvPr/>
        </p:nvSpPr>
        <p:spPr>
          <a:xfrm>
            <a:off x="8110728" y="2002536"/>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Location, region, manager, specialist, date</a:t>
            </a:r>
            <a:endParaRPr lang="en-US" sz="1050" dirty="0"/>
          </a:p>
        </p:txBody>
      </p:sp>
      <p:sp>
        <p:nvSpPr>
          <p:cNvPr id="8" name="Shape 6"/>
          <p:cNvSpPr/>
          <p:nvPr/>
        </p:nvSpPr>
        <p:spPr>
          <a:xfrm>
            <a:off x="7909560" y="2624328"/>
            <a:ext cx="3749040" cy="841248"/>
          </a:xfrm>
          <a:prstGeom prst="roundRect">
            <a:avLst>
              <a:gd name="adj" fmla="val 6522"/>
            </a:avLst>
          </a:prstGeom>
          <a:solidFill>
            <a:srgbClr val="12315A"/>
          </a:solidFill>
          <a:ln w="9525">
            <a:solidFill>
              <a:srgbClr val="24507F"/>
            </a:solidFill>
            <a:prstDash val="solid"/>
          </a:ln>
        </p:spPr>
      </p:sp>
      <p:sp>
        <p:nvSpPr>
          <p:cNvPr id="9" name="Text 7"/>
          <p:cNvSpPr/>
          <p:nvPr/>
        </p:nvSpPr>
        <p:spPr>
          <a:xfrm>
            <a:off x="8110728" y="2724912"/>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Seven views</a:t>
            </a:r>
            <a:endParaRPr lang="en-US" sz="1500" dirty="0"/>
          </a:p>
        </p:txBody>
      </p:sp>
      <p:sp>
        <p:nvSpPr>
          <p:cNvPr id="10" name="Text 8"/>
          <p:cNvSpPr/>
          <p:nvPr/>
        </p:nvSpPr>
        <p:spPr>
          <a:xfrm>
            <a:off x="8110728" y="3026664"/>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Overview, recurring, sites, items, sections, managers, log</a:t>
            </a:r>
            <a:endParaRPr lang="en-US" sz="1050" dirty="0"/>
          </a:p>
        </p:txBody>
      </p:sp>
      <p:sp>
        <p:nvSpPr>
          <p:cNvPr id="11" name="Shape 9"/>
          <p:cNvSpPr/>
          <p:nvPr/>
        </p:nvSpPr>
        <p:spPr>
          <a:xfrm>
            <a:off x="7909560" y="3648456"/>
            <a:ext cx="3749040" cy="841248"/>
          </a:xfrm>
          <a:prstGeom prst="roundRect">
            <a:avLst>
              <a:gd name="adj" fmla="val 6522"/>
            </a:avLst>
          </a:prstGeom>
          <a:solidFill>
            <a:srgbClr val="12315A"/>
          </a:solidFill>
          <a:ln w="9525">
            <a:solidFill>
              <a:srgbClr val="24507F"/>
            </a:solidFill>
            <a:prstDash val="solid"/>
          </a:ln>
        </p:spPr>
      </p:sp>
      <p:sp>
        <p:nvSpPr>
          <p:cNvPr id="12" name="Text 10"/>
          <p:cNvSpPr/>
          <p:nvPr/>
        </p:nvSpPr>
        <p:spPr>
          <a:xfrm>
            <a:off x="8110728" y="3749040"/>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Live</a:t>
            </a:r>
            <a:endParaRPr lang="en-US" sz="1500" dirty="0"/>
          </a:p>
        </p:txBody>
      </p:sp>
      <p:sp>
        <p:nvSpPr>
          <p:cNvPr id="13" name="Text 11"/>
          <p:cNvSpPr/>
          <p:nvPr/>
        </p:nvSpPr>
        <p:spPr>
          <a:xfrm>
            <a:off x="8110728" y="4050792"/>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Updates as each specialist finalizes</a:t>
            </a:r>
            <a:endParaRPr lang="en-US" sz="1050" dirty="0"/>
          </a:p>
        </p:txBody>
      </p:sp>
      <p:sp>
        <p:nvSpPr>
          <p:cNvPr id="14" name="Shape 12"/>
          <p:cNvSpPr/>
          <p:nvPr/>
        </p:nvSpPr>
        <p:spPr>
          <a:xfrm>
            <a:off x="7909560" y="4672584"/>
            <a:ext cx="3749040" cy="841248"/>
          </a:xfrm>
          <a:prstGeom prst="roundRect">
            <a:avLst>
              <a:gd name="adj" fmla="val 6522"/>
            </a:avLst>
          </a:prstGeom>
          <a:solidFill>
            <a:srgbClr val="12315A"/>
          </a:solidFill>
          <a:ln w="9525">
            <a:solidFill>
              <a:srgbClr val="24507F"/>
            </a:solidFill>
            <a:prstDash val="solid"/>
          </a:ln>
        </p:spPr>
      </p:sp>
      <p:sp>
        <p:nvSpPr>
          <p:cNvPr id="15" name="Text 13"/>
          <p:cNvSpPr/>
          <p:nvPr/>
        </p:nvSpPr>
        <p:spPr>
          <a:xfrm>
            <a:off x="8110728" y="4773168"/>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Exportable</a:t>
            </a:r>
            <a:endParaRPr lang="en-US" sz="1500" dirty="0"/>
          </a:p>
        </p:txBody>
      </p:sp>
      <p:sp>
        <p:nvSpPr>
          <p:cNvPr id="16" name="Text 14"/>
          <p:cNvSpPr/>
          <p:nvPr/>
        </p:nvSpPr>
        <p:spPr>
          <a:xfrm>
            <a:off x="8110728" y="5074920"/>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Eight-sheet workbook or PDF, filtered</a:t>
            </a:r>
            <a:endParaRPr lang="en-US" sz="1050" dirty="0"/>
          </a:p>
        </p:txBody>
      </p:sp>
      <p:sp>
        <p:nvSpPr>
          <p:cNvPr id="17"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8"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26187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26187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TRENDS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How are we actually doing?</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landing view answers that in one screen, before any drilling down.</a:t>
            </a:r>
            <a:endParaRPr lang="en-US" sz="1350" dirty="0"/>
          </a:p>
        </p:txBody>
      </p:sp>
      <p:sp>
        <p:nvSpPr>
          <p:cNvPr id="6" name="Shape 4"/>
          <p:cNvSpPr/>
          <p:nvPr/>
        </p:nvSpPr>
        <p:spPr>
          <a:xfrm>
            <a:off x="1152746" y="1810512"/>
            <a:ext cx="641788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11-trends-top.jpg">    </p:cNvPr>
          <p:cNvPicPr>
            <a:picLocks noChangeAspect="1"/>
          </p:cNvPicPr>
          <p:nvPr/>
        </p:nvPicPr>
        <p:blipFill>
          <a:blip r:embed="rId1"/>
          <a:stretch>
            <a:fillRect/>
          </a:stretch>
        </p:blipFill>
        <p:spPr>
          <a:xfrm>
            <a:off x="1216754" y="1874520"/>
            <a:ext cx="628986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Issue Trend Analysis — KPI row and the monthly trend, scoped by the filters above (sample data)</a:t>
            </a:r>
            <a:endParaRPr lang="en-US" sz="1000" dirty="0"/>
          </a:p>
        </p:txBody>
      </p:sp>
      <p:sp>
        <p:nvSpPr>
          <p:cNvPr id="9" name="Shape 6"/>
          <p:cNvSpPr/>
          <p:nvPr/>
        </p:nvSpPr>
        <p:spPr>
          <a:xfrm>
            <a:off x="8339328" y="1810512"/>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Direction of travel</a:t>
            </a:r>
            <a:endParaRPr lang="en-US" sz="1250" dirty="0"/>
          </a:p>
        </p:txBody>
      </p:sp>
      <p:sp>
        <p:nvSpPr>
          <p:cNvPr id="11" name="Text 8"/>
          <p:cNvSpPr/>
          <p:nvPr/>
        </p:nvSpPr>
        <p:spPr>
          <a:xfrm>
            <a:off x="8522208" y="2194560"/>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Change measured on closed months only, so a part-month never reads as an improvement</a:t>
            </a:r>
            <a:endParaRPr lang="en-US" sz="1050" dirty="0"/>
          </a:p>
        </p:txBody>
      </p:sp>
      <p:sp>
        <p:nvSpPr>
          <p:cNvPr id="12" name="Shape 9"/>
          <p:cNvSpPr/>
          <p:nvPr/>
        </p:nvSpPr>
        <p:spPr>
          <a:xfrm>
            <a:off x="8339328" y="2967228"/>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07695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Recurring count</a:t>
            </a:r>
            <a:endParaRPr lang="en-US" sz="1250" dirty="0"/>
          </a:p>
        </p:txBody>
      </p:sp>
      <p:sp>
        <p:nvSpPr>
          <p:cNvPr id="14" name="Text 11"/>
          <p:cNvSpPr/>
          <p:nvPr/>
        </p:nvSpPr>
        <p:spPr>
          <a:xfrm>
            <a:off x="8522208" y="3351276"/>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Findings that came back — the ones a corrective action did not fix</a:t>
            </a:r>
            <a:endParaRPr lang="en-US" sz="1050" dirty="0"/>
          </a:p>
        </p:txBody>
      </p:sp>
      <p:sp>
        <p:nvSpPr>
          <p:cNvPr id="15" name="Shape 12"/>
          <p:cNvSpPr/>
          <p:nvPr/>
        </p:nvSpPr>
        <p:spPr>
          <a:xfrm>
            <a:off x="8339328" y="4123944"/>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4233672"/>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Clean visits</a:t>
            </a:r>
            <a:endParaRPr lang="en-US" sz="1250" dirty="0"/>
          </a:p>
        </p:txBody>
      </p:sp>
      <p:sp>
        <p:nvSpPr>
          <p:cNvPr id="17" name="Text 14"/>
          <p:cNvSpPr/>
          <p:nvPr/>
        </p:nvSpPr>
        <p:spPr>
          <a:xfrm>
            <a:off x="8522208" y="4507992"/>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Visits with no findings at all, tracked deliberately</a:t>
            </a:r>
            <a:endParaRPr lang="en-US" sz="1050" dirty="0"/>
          </a:p>
        </p:txBody>
      </p:sp>
      <p:sp>
        <p:nvSpPr>
          <p:cNvPr id="18" name="Shape 15"/>
          <p:cNvSpPr/>
          <p:nvPr/>
        </p:nvSpPr>
        <p:spPr>
          <a:xfrm>
            <a:off x="8339328" y="5280660"/>
            <a:ext cx="3282696" cy="973836"/>
          </a:xfrm>
          <a:prstGeom prst="roundRect">
            <a:avLst>
              <a:gd name="adj" fmla="val 563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9" name="Text 16"/>
          <p:cNvSpPr/>
          <p:nvPr/>
        </p:nvSpPr>
        <p:spPr>
          <a:xfrm>
            <a:off x="8522208" y="539038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Everything filtered</a:t>
            </a:r>
            <a:endParaRPr lang="en-US" sz="1250" dirty="0"/>
          </a:p>
        </p:txBody>
      </p:sp>
      <p:sp>
        <p:nvSpPr>
          <p:cNvPr id="20" name="Text 17"/>
          <p:cNvSpPr/>
          <p:nvPr/>
        </p:nvSpPr>
        <p:spPr>
          <a:xfrm>
            <a:off x="8522208" y="5664708"/>
            <a:ext cx="2916936" cy="461772"/>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Location, section, specialist, region, manager, date range — every view and export obeys them</a:t>
            </a:r>
            <a:endParaRPr lang="en-US" sz="1050" dirty="0"/>
          </a:p>
        </p:txBody>
      </p:sp>
      <p:sp>
        <p:nvSpPr>
          <p:cNvPr id="22" name="Text 18"/>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3" name="Text 19"/>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26187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26187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TRENDS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What is going wrong, and where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Four rankings on the overview, each one clickable straight through to the underlying findings.</a:t>
            </a:r>
            <a:endParaRPr lang="en-US" sz="1350" dirty="0"/>
          </a:p>
        </p:txBody>
      </p:sp>
      <p:sp>
        <p:nvSpPr>
          <p:cNvPr id="6" name="Shape 4"/>
          <p:cNvSpPr/>
          <p:nvPr/>
        </p:nvSpPr>
        <p:spPr>
          <a:xfrm>
            <a:off x="2719105" y="1810512"/>
            <a:ext cx="6750742"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11b-trends-panels.jpg">    </p:cNvPr>
          <p:cNvPicPr>
            <a:picLocks noChangeAspect="1"/>
          </p:cNvPicPr>
          <p:nvPr/>
        </p:nvPicPr>
        <p:blipFill>
          <a:blip r:embed="rId1"/>
          <a:stretch>
            <a:fillRect/>
          </a:stretch>
        </p:blipFill>
        <p:spPr>
          <a:xfrm>
            <a:off x="2783113" y="1874520"/>
            <a:ext cx="6622726" cy="4032504"/>
          </a:xfrm>
          <a:prstGeom prst="rect">
            <a:avLst/>
          </a:prstGeom>
        </p:spPr>
      </p:pic>
      <p:sp>
        <p:nvSpPr>
          <p:cNvPr id="8" name="Text 5"/>
          <p:cNvSpPr/>
          <p:nvPr/>
        </p:nvSpPr>
        <p:spPr>
          <a:xfrm>
            <a:off x="566928" y="6035040"/>
            <a:ext cx="11055096"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Recurring issues, sites by issue count, most-failed items and issues by section (sample data)</a:t>
            </a:r>
            <a:endParaRPr lang="en-US" sz="1000" dirty="0"/>
          </a:p>
        </p:txBody>
      </p:sp>
      <p:sp>
        <p:nvSpPr>
          <p:cNvPr id="9" name="Text 6"/>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0" name="Text 7"/>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26187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26187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TRENDS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findings that keep coming back</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same item failing at the same site on two or more separate visits — the corrective actions that did not stick.</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Counted by visits failed, not by records, so one visit with three affected employees is one finding</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Shows the section, the area manager and when it was last seen</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Clicking through opens the issue log already filtered to that site and item</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This is the list that should drive the agenda of a regional call</a:t>
            </a:r>
            <a:endParaRPr lang="en-US" sz="1300" dirty="0"/>
          </a:p>
        </p:txBody>
      </p:sp>
      <p:sp>
        <p:nvSpPr>
          <p:cNvPr id="7" name="Shape 5"/>
          <p:cNvSpPr/>
          <p:nvPr/>
        </p:nvSpPr>
        <p:spPr>
          <a:xfrm>
            <a:off x="4819589" y="1810512"/>
            <a:ext cx="66005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c12-recurring.jpg">    </p:cNvPr>
          <p:cNvPicPr>
            <a:picLocks noChangeAspect="1"/>
          </p:cNvPicPr>
          <p:nvPr/>
        </p:nvPicPr>
        <p:blipFill>
          <a:blip r:embed="rId1"/>
          <a:stretch>
            <a:fillRect/>
          </a:stretch>
        </p:blipFill>
        <p:spPr>
          <a:xfrm>
            <a:off x="4883597" y="1874520"/>
            <a:ext cx="64725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Recurring issues — same item, same site, two or more visits (sample data)</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26187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26187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TRENDS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Four more ways to slice the same data</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Sites, items, sections and area managers — the same filtered set, ranked differently.</a:t>
            </a:r>
            <a:endParaRPr lang="en-US" sz="1350" dirty="0"/>
          </a:p>
        </p:txBody>
      </p:sp>
      <p:sp>
        <p:nvSpPr>
          <p:cNvPr id="6" name="Shape 4"/>
          <p:cNvSpPr/>
          <p:nvPr/>
        </p:nvSpPr>
        <p:spPr>
          <a:xfrm>
            <a:off x="1769281" y="1929384"/>
            <a:ext cx="2958250" cy="1929384"/>
          </a:xfrm>
          <a:prstGeom prst="roundRect">
            <a:avLst>
              <a:gd name="adj" fmla="val 189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13-locations.jpg">    </p:cNvPr>
          <p:cNvPicPr>
            <a:picLocks noChangeAspect="1"/>
          </p:cNvPicPr>
          <p:nvPr/>
        </p:nvPicPr>
        <p:blipFill>
          <a:blip r:embed="rId1"/>
          <a:stretch>
            <a:fillRect/>
          </a:stretch>
        </p:blipFill>
        <p:spPr>
          <a:xfrm>
            <a:off x="1815001" y="1975104"/>
            <a:ext cx="2866810" cy="1837944"/>
          </a:xfrm>
          <a:prstGeom prst="rect">
            <a:avLst/>
          </a:prstGeom>
        </p:spPr>
      </p:pic>
      <p:sp>
        <p:nvSpPr>
          <p:cNvPr id="8" name="Text 5"/>
          <p:cNvSpPr/>
          <p:nvPr/>
        </p:nvSpPr>
        <p:spPr>
          <a:xfrm>
            <a:off x="1815001" y="3904488"/>
            <a:ext cx="2866810" cy="256032"/>
          </a:xfrm>
          <a:prstGeom prst="rect">
            <a:avLst/>
          </a:prstGeom>
          <a:noFill/>
          <a:ln/>
        </p:spPr>
        <p:txBody>
          <a:bodyPr wrap="square" lIns="0" tIns="0" rIns="0" bIns="0" rtlCol="0" anchor="ctr"/>
          <a:lstStyle/>
          <a:p>
            <a:pPr algn="ctr" indent="0" marL="0">
              <a:buNone/>
            </a:pPr>
            <a:r>
              <a:rPr lang="en-US" sz="1100" b="1" dirty="0">
                <a:solidFill>
                  <a:srgbClr val="0053A1"/>
                </a:solidFill>
                <a:latin typeface="Calibri" pitchFamily="34" charset="0"/>
                <a:ea typeface="Calibri" pitchFamily="34" charset="-122"/>
                <a:cs typeface="Calibri" pitchFamily="34" charset="-120"/>
              </a:rPr>
              <a:t>By site</a:t>
            </a:r>
            <a:endParaRPr lang="en-US" sz="1100" dirty="0"/>
          </a:p>
        </p:txBody>
      </p:sp>
      <p:sp>
        <p:nvSpPr>
          <p:cNvPr id="9" name="Shape 6"/>
          <p:cNvSpPr/>
          <p:nvPr/>
        </p:nvSpPr>
        <p:spPr>
          <a:xfrm>
            <a:off x="7385565" y="1929384"/>
            <a:ext cx="3109961" cy="1929384"/>
          </a:xfrm>
          <a:prstGeom prst="roundRect">
            <a:avLst>
              <a:gd name="adj" fmla="val 189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10" name="Image 1" descr="/tmp/claude-0/-home-user-rotech-survey-prep/83831baf-ce80-5cc5-b8c6-b0e43c1938af/scratchpad/shots/opt/c14-items.jpg">    </p:cNvPr>
          <p:cNvPicPr>
            <a:picLocks noChangeAspect="1"/>
          </p:cNvPicPr>
          <p:nvPr/>
        </p:nvPicPr>
        <p:blipFill>
          <a:blip r:embed="rId2"/>
          <a:stretch>
            <a:fillRect/>
          </a:stretch>
        </p:blipFill>
        <p:spPr>
          <a:xfrm>
            <a:off x="7431285" y="1975104"/>
            <a:ext cx="3018521" cy="1837944"/>
          </a:xfrm>
          <a:prstGeom prst="rect">
            <a:avLst/>
          </a:prstGeom>
        </p:spPr>
      </p:pic>
      <p:sp>
        <p:nvSpPr>
          <p:cNvPr id="11" name="Text 7"/>
          <p:cNvSpPr/>
          <p:nvPr/>
        </p:nvSpPr>
        <p:spPr>
          <a:xfrm>
            <a:off x="7431285" y="3904488"/>
            <a:ext cx="3018521" cy="256032"/>
          </a:xfrm>
          <a:prstGeom prst="rect">
            <a:avLst/>
          </a:prstGeom>
          <a:noFill/>
          <a:ln/>
        </p:spPr>
        <p:txBody>
          <a:bodyPr wrap="square" lIns="0" tIns="0" rIns="0" bIns="0" rtlCol="0" anchor="ctr"/>
          <a:lstStyle/>
          <a:p>
            <a:pPr algn="ctr" indent="0" marL="0">
              <a:buNone/>
            </a:pPr>
            <a:r>
              <a:rPr lang="en-US" sz="1100" b="1" dirty="0">
                <a:solidFill>
                  <a:srgbClr val="0053A1"/>
                </a:solidFill>
                <a:latin typeface="Calibri" pitchFamily="34" charset="0"/>
                <a:ea typeface="Calibri" pitchFamily="34" charset="-122"/>
                <a:cs typeface="Calibri" pitchFamily="34" charset="-120"/>
              </a:rPr>
              <a:t>By item</a:t>
            </a:r>
            <a:endParaRPr lang="en-US" sz="1100" dirty="0"/>
          </a:p>
        </p:txBody>
      </p:sp>
      <p:sp>
        <p:nvSpPr>
          <p:cNvPr id="12" name="Shape 8"/>
          <p:cNvSpPr/>
          <p:nvPr/>
        </p:nvSpPr>
        <p:spPr>
          <a:xfrm>
            <a:off x="1693425" y="4261104"/>
            <a:ext cx="3109961" cy="1929384"/>
          </a:xfrm>
          <a:prstGeom prst="roundRect">
            <a:avLst>
              <a:gd name="adj" fmla="val 189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13" name="Image 2" descr="/tmp/claude-0/-home-user-rotech-survey-prep/83831baf-ce80-5cc5-b8c6-b0e43c1938af/scratchpad/shots/opt/c15-sections.jpg">    </p:cNvPr>
          <p:cNvPicPr>
            <a:picLocks noChangeAspect="1"/>
          </p:cNvPicPr>
          <p:nvPr/>
        </p:nvPicPr>
        <p:blipFill>
          <a:blip r:embed="rId3"/>
          <a:stretch>
            <a:fillRect/>
          </a:stretch>
        </p:blipFill>
        <p:spPr>
          <a:xfrm>
            <a:off x="1739145" y="4306824"/>
            <a:ext cx="3018521" cy="1837944"/>
          </a:xfrm>
          <a:prstGeom prst="rect">
            <a:avLst/>
          </a:prstGeom>
        </p:spPr>
      </p:pic>
      <p:sp>
        <p:nvSpPr>
          <p:cNvPr id="14" name="Text 9"/>
          <p:cNvSpPr/>
          <p:nvPr/>
        </p:nvSpPr>
        <p:spPr>
          <a:xfrm>
            <a:off x="1739145" y="6236208"/>
            <a:ext cx="3018521" cy="256032"/>
          </a:xfrm>
          <a:prstGeom prst="rect">
            <a:avLst/>
          </a:prstGeom>
          <a:noFill/>
          <a:ln/>
        </p:spPr>
        <p:txBody>
          <a:bodyPr wrap="square" lIns="0" tIns="0" rIns="0" bIns="0" rtlCol="0" anchor="ctr"/>
          <a:lstStyle/>
          <a:p>
            <a:pPr algn="ctr" indent="0" marL="0">
              <a:buNone/>
            </a:pPr>
            <a:r>
              <a:rPr lang="en-US" sz="1100" b="1" dirty="0">
                <a:solidFill>
                  <a:srgbClr val="0053A1"/>
                </a:solidFill>
                <a:latin typeface="Calibri" pitchFamily="34" charset="0"/>
                <a:ea typeface="Calibri" pitchFamily="34" charset="-122"/>
                <a:cs typeface="Calibri" pitchFamily="34" charset="-120"/>
              </a:rPr>
              <a:t>By section</a:t>
            </a:r>
            <a:endParaRPr lang="en-US" sz="1100" dirty="0"/>
          </a:p>
        </p:txBody>
      </p:sp>
      <p:sp>
        <p:nvSpPr>
          <p:cNvPr id="15" name="Shape 10"/>
          <p:cNvSpPr/>
          <p:nvPr/>
        </p:nvSpPr>
        <p:spPr>
          <a:xfrm>
            <a:off x="7385565" y="4261104"/>
            <a:ext cx="3109961" cy="1929384"/>
          </a:xfrm>
          <a:prstGeom prst="roundRect">
            <a:avLst>
              <a:gd name="adj" fmla="val 189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16" name="Image 3" descr="/tmp/claude-0/-home-user-rotech-survey-prep/83831baf-ce80-5cc5-b8c6-b0e43c1938af/scratchpad/shots/opt/c16-managers.jpg">    </p:cNvPr>
          <p:cNvPicPr>
            <a:picLocks noChangeAspect="1"/>
          </p:cNvPicPr>
          <p:nvPr/>
        </p:nvPicPr>
        <p:blipFill>
          <a:blip r:embed="rId4"/>
          <a:stretch>
            <a:fillRect/>
          </a:stretch>
        </p:blipFill>
        <p:spPr>
          <a:xfrm>
            <a:off x="7431285" y="4306824"/>
            <a:ext cx="3018521" cy="1837944"/>
          </a:xfrm>
          <a:prstGeom prst="rect">
            <a:avLst/>
          </a:prstGeom>
        </p:spPr>
      </p:pic>
      <p:sp>
        <p:nvSpPr>
          <p:cNvPr id="17" name="Text 11"/>
          <p:cNvSpPr/>
          <p:nvPr/>
        </p:nvSpPr>
        <p:spPr>
          <a:xfrm>
            <a:off x="7431285" y="6236208"/>
            <a:ext cx="3018521" cy="256032"/>
          </a:xfrm>
          <a:prstGeom prst="rect">
            <a:avLst/>
          </a:prstGeom>
          <a:noFill/>
          <a:ln/>
        </p:spPr>
        <p:txBody>
          <a:bodyPr wrap="square" lIns="0" tIns="0" rIns="0" bIns="0" rtlCol="0" anchor="ctr"/>
          <a:lstStyle/>
          <a:p>
            <a:pPr algn="ctr" indent="0" marL="0">
              <a:buNone/>
            </a:pPr>
            <a:r>
              <a:rPr lang="en-US" sz="1100" b="1" dirty="0">
                <a:solidFill>
                  <a:srgbClr val="0053A1"/>
                </a:solidFill>
                <a:latin typeface="Calibri" pitchFamily="34" charset="0"/>
                <a:ea typeface="Calibri" pitchFamily="34" charset="-122"/>
                <a:cs typeface="Calibri" pitchFamily="34" charset="-120"/>
              </a:rPr>
              <a:t>By area manager</a:t>
            </a:r>
            <a:endParaRPr lang="en-US" sz="1100" dirty="0"/>
          </a:p>
        </p:txBody>
      </p:sp>
      <p:sp>
        <p:nvSpPr>
          <p:cNvPr id="18" name="Text 12"/>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3"/>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261872"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261872"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TRENDS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And the complete log underneath all of it</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Every finding ever recorded, sortable, searchable, and exportable exactly as filtered.</a:t>
            </a:r>
            <a:endParaRPr lang="en-US" sz="1350" dirty="0"/>
          </a:p>
        </p:txBody>
      </p:sp>
      <p:sp>
        <p:nvSpPr>
          <p:cNvPr id="6" name="Shape 4"/>
          <p:cNvSpPr/>
          <p:nvPr/>
        </p:nvSpPr>
        <p:spPr>
          <a:xfrm>
            <a:off x="1088791" y="1810512"/>
            <a:ext cx="654579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17-trends-log.jpg">    </p:cNvPr>
          <p:cNvPicPr>
            <a:picLocks noChangeAspect="1"/>
          </p:cNvPicPr>
          <p:nvPr/>
        </p:nvPicPr>
        <p:blipFill>
          <a:blip r:embed="rId1"/>
          <a:stretch>
            <a:fillRect/>
          </a:stretch>
        </p:blipFill>
        <p:spPr>
          <a:xfrm>
            <a:off x="1152799" y="1874520"/>
            <a:ext cx="641777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Issue log — date, site, region, manager, specialist, section, form reference, item and note (sample data)</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Nothing hidden</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Every ranking on every other view resolves to rows in this table</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Filters are the scope</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What is on screen is what exports — the workbook cannot disagree with the dashboard</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Eight sheets out</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Summary, monthly, recurring, by site, by item, by section, by manager, full log</a:t>
            </a:r>
            <a:endParaRPr lang="en-US" sz="105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66928" y="1371600"/>
            <a:ext cx="2194560" cy="1554480"/>
          </a:xfrm>
          <a:prstGeom prst="rect">
            <a:avLst/>
          </a:prstGeom>
          <a:noFill/>
          <a:ln/>
        </p:spPr>
        <p:txBody>
          <a:bodyPr wrap="square" lIns="0" tIns="0" rIns="0" bIns="0" rtlCol="0" anchor="ctr"/>
          <a:lstStyle/>
          <a:p>
            <a:pPr indent="0" marL="0">
              <a:buNone/>
            </a:pPr>
            <a:r>
              <a:rPr lang="en-US" sz="9600" b="1" dirty="0">
                <a:solidFill>
                  <a:srgbClr val="1E4E80"/>
                </a:solidFill>
                <a:latin typeface="Cambria" pitchFamily="34" charset="0"/>
                <a:ea typeface="Cambria" pitchFamily="34" charset="-122"/>
                <a:cs typeface="Cambria" pitchFamily="34" charset="-120"/>
              </a:rPr>
              <a:t>04</a:t>
            </a:r>
            <a:endParaRPr lang="en-US" sz="9600" dirty="0"/>
          </a:p>
        </p:txBody>
      </p:sp>
      <p:sp>
        <p:nvSpPr>
          <p:cNvPr id="3" name="Text 1"/>
          <p:cNvSpPr/>
          <p:nvPr/>
        </p:nvSpPr>
        <p:spPr>
          <a:xfrm>
            <a:off x="566928" y="2834640"/>
            <a:ext cx="69494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Metrics weighting</a:t>
            </a:r>
            <a:endParaRPr lang="en-US" sz="3800" dirty="0"/>
          </a:p>
        </p:txBody>
      </p:sp>
      <p:sp>
        <p:nvSpPr>
          <p:cNvPr id="4" name="Text 2"/>
          <p:cNvSpPr/>
          <p:nvPr/>
        </p:nvSpPr>
        <p:spPr>
          <a:xfrm>
            <a:off x="566928" y="3794760"/>
            <a:ext cx="6766560" cy="1828800"/>
          </a:xfrm>
          <a:prstGeom prst="rect">
            <a:avLst/>
          </a:prstGeom>
          <a:noFill/>
          <a:ln/>
        </p:spPr>
        <p:txBody>
          <a:bodyPr wrap="square" lIns="0" tIns="0" rIns="0" bIns="0" rtlCol="0" anchor="t"/>
          <a:lstStyle/>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The proposal: stop counting findings and start scoring them, so the data ranks by risk rather than by volume.</a:t>
            </a:r>
            <a:endParaRPr lang="en-US" sz="1450" dirty="0"/>
          </a:p>
        </p:txBody>
      </p:sp>
      <p:sp>
        <p:nvSpPr>
          <p:cNvPr id="5" name="Shape 3"/>
          <p:cNvSpPr/>
          <p:nvPr/>
        </p:nvSpPr>
        <p:spPr>
          <a:xfrm>
            <a:off x="7909560" y="1600200"/>
            <a:ext cx="3749040" cy="841248"/>
          </a:xfrm>
          <a:prstGeom prst="roundRect">
            <a:avLst>
              <a:gd name="adj" fmla="val 6522"/>
            </a:avLst>
          </a:prstGeom>
          <a:solidFill>
            <a:srgbClr val="12315A"/>
          </a:solidFill>
          <a:ln w="9525">
            <a:solidFill>
              <a:srgbClr val="24507F"/>
            </a:solidFill>
            <a:prstDash val="solid"/>
          </a:ln>
        </p:spPr>
      </p:sp>
      <p:sp>
        <p:nvSpPr>
          <p:cNvPr id="6" name="Text 4"/>
          <p:cNvSpPr/>
          <p:nvPr/>
        </p:nvSpPr>
        <p:spPr>
          <a:xfrm>
            <a:off x="8110728" y="1700784"/>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problem</a:t>
            </a:r>
            <a:endParaRPr lang="en-US" sz="1500" dirty="0"/>
          </a:p>
        </p:txBody>
      </p:sp>
      <p:sp>
        <p:nvSpPr>
          <p:cNvPr id="7" name="Text 5"/>
          <p:cNvSpPr/>
          <p:nvPr/>
        </p:nvSpPr>
        <p:spPr>
          <a:xfrm>
            <a:off x="8110728" y="2002536"/>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Eight minor items outrank two critical ones</a:t>
            </a:r>
            <a:endParaRPr lang="en-US" sz="1050" dirty="0"/>
          </a:p>
        </p:txBody>
      </p:sp>
      <p:sp>
        <p:nvSpPr>
          <p:cNvPr id="8" name="Shape 6"/>
          <p:cNvSpPr/>
          <p:nvPr/>
        </p:nvSpPr>
        <p:spPr>
          <a:xfrm>
            <a:off x="7909560" y="2624328"/>
            <a:ext cx="3749040" cy="841248"/>
          </a:xfrm>
          <a:prstGeom prst="roundRect">
            <a:avLst>
              <a:gd name="adj" fmla="val 6522"/>
            </a:avLst>
          </a:prstGeom>
          <a:solidFill>
            <a:srgbClr val="12315A"/>
          </a:solidFill>
          <a:ln w="9525">
            <a:solidFill>
              <a:srgbClr val="24507F"/>
            </a:solidFill>
            <a:prstDash val="solid"/>
          </a:ln>
        </p:spPr>
      </p:sp>
      <p:sp>
        <p:nvSpPr>
          <p:cNvPr id="9" name="Text 7"/>
          <p:cNvSpPr/>
          <p:nvPr/>
        </p:nvSpPr>
        <p:spPr>
          <a:xfrm>
            <a:off x="8110728" y="2724912"/>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model</a:t>
            </a:r>
            <a:endParaRPr lang="en-US" sz="1500" dirty="0"/>
          </a:p>
        </p:txBody>
      </p:sp>
      <p:sp>
        <p:nvSpPr>
          <p:cNvPr id="10" name="Text 8"/>
          <p:cNvSpPr/>
          <p:nvPr/>
        </p:nvSpPr>
        <p:spPr>
          <a:xfrm>
            <a:off x="8110728" y="3026664"/>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Critical ×5, Major ×3, Minor ×1</a:t>
            </a:r>
            <a:endParaRPr lang="en-US" sz="1050" dirty="0"/>
          </a:p>
        </p:txBody>
      </p:sp>
      <p:sp>
        <p:nvSpPr>
          <p:cNvPr id="11" name="Shape 9"/>
          <p:cNvSpPr/>
          <p:nvPr/>
        </p:nvSpPr>
        <p:spPr>
          <a:xfrm>
            <a:off x="7909560" y="3648456"/>
            <a:ext cx="3749040" cy="841248"/>
          </a:xfrm>
          <a:prstGeom prst="roundRect">
            <a:avLst>
              <a:gd name="adj" fmla="val 6522"/>
            </a:avLst>
          </a:prstGeom>
          <a:solidFill>
            <a:srgbClr val="12315A"/>
          </a:solidFill>
          <a:ln w="9525">
            <a:solidFill>
              <a:srgbClr val="24507F"/>
            </a:solidFill>
            <a:prstDash val="solid"/>
          </a:ln>
        </p:spPr>
      </p:sp>
      <p:sp>
        <p:nvSpPr>
          <p:cNvPr id="12" name="Text 10"/>
          <p:cNvSpPr/>
          <p:nvPr/>
        </p:nvSpPr>
        <p:spPr>
          <a:xfrm>
            <a:off x="8110728" y="3749040"/>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multipliers</a:t>
            </a:r>
            <a:endParaRPr lang="en-US" sz="1500" dirty="0"/>
          </a:p>
        </p:txBody>
      </p:sp>
      <p:sp>
        <p:nvSpPr>
          <p:cNvPr id="13" name="Text 11"/>
          <p:cNvSpPr/>
          <p:nvPr/>
        </p:nvSpPr>
        <p:spPr>
          <a:xfrm>
            <a:off x="8110728" y="4050792"/>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Recurrence and age push items up the queue</a:t>
            </a:r>
            <a:endParaRPr lang="en-US" sz="1050" dirty="0"/>
          </a:p>
        </p:txBody>
      </p:sp>
      <p:sp>
        <p:nvSpPr>
          <p:cNvPr id="14" name="Shape 12"/>
          <p:cNvSpPr/>
          <p:nvPr/>
        </p:nvSpPr>
        <p:spPr>
          <a:xfrm>
            <a:off x="7909560" y="4672584"/>
            <a:ext cx="3749040" cy="841248"/>
          </a:xfrm>
          <a:prstGeom prst="roundRect">
            <a:avLst>
              <a:gd name="adj" fmla="val 6522"/>
            </a:avLst>
          </a:prstGeom>
          <a:solidFill>
            <a:srgbClr val="12315A"/>
          </a:solidFill>
          <a:ln w="9525">
            <a:solidFill>
              <a:srgbClr val="24507F"/>
            </a:solidFill>
            <a:prstDash val="solid"/>
          </a:ln>
        </p:spPr>
      </p:sp>
      <p:sp>
        <p:nvSpPr>
          <p:cNvPr id="15" name="Text 13"/>
          <p:cNvSpPr/>
          <p:nvPr/>
        </p:nvSpPr>
        <p:spPr>
          <a:xfrm>
            <a:off x="8110728" y="4773168"/>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output</a:t>
            </a:r>
            <a:endParaRPr lang="en-US" sz="1500" dirty="0"/>
          </a:p>
        </p:txBody>
      </p:sp>
      <p:sp>
        <p:nvSpPr>
          <p:cNvPr id="16" name="Text 14"/>
          <p:cNvSpPr/>
          <p:nvPr/>
        </p:nvSpPr>
        <p:spPr>
          <a:xfrm>
            <a:off x="8110728" y="5074920"/>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One score, comparable across sites and time</a:t>
            </a:r>
            <a:endParaRPr lang="en-US" sz="1050" dirty="0"/>
          </a:p>
        </p:txBody>
      </p:sp>
      <p:sp>
        <p:nvSpPr>
          <p:cNvPr id="17"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8"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700784"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700784"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Why counting findings is not enough</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Two sites, the same number on today's dashboard. Only one of them is a survey risk.</a:t>
            </a:r>
            <a:endParaRPr lang="en-US" sz="1350" dirty="0"/>
          </a:p>
        </p:txBody>
      </p:sp>
      <p:sp>
        <p:nvSpPr>
          <p:cNvPr id="6" name="Shape 4"/>
          <p:cNvSpPr/>
          <p:nvPr/>
        </p:nvSpPr>
        <p:spPr>
          <a:xfrm>
            <a:off x="566928" y="1920240"/>
            <a:ext cx="5372100" cy="3675888"/>
          </a:xfrm>
          <a:prstGeom prst="roundRect">
            <a:avLst>
              <a:gd name="adj" fmla="val 1493"/>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Text 5"/>
          <p:cNvSpPr/>
          <p:nvPr/>
        </p:nvSpPr>
        <p:spPr>
          <a:xfrm>
            <a:off x="804672" y="2066544"/>
            <a:ext cx="4896612" cy="384048"/>
          </a:xfrm>
          <a:prstGeom prst="rect">
            <a:avLst/>
          </a:prstGeom>
          <a:noFill/>
          <a:ln/>
        </p:spPr>
        <p:txBody>
          <a:bodyPr wrap="square" lIns="0" tIns="0" rIns="0" bIns="0" rtlCol="0" anchor="ctr"/>
          <a:lstStyle/>
          <a:p>
            <a:pPr indent="0" marL="0">
              <a:buNone/>
            </a:pPr>
            <a:r>
              <a:rPr lang="en-US" sz="2000" b="1" dirty="0">
                <a:solidFill>
                  <a:srgbClr val="3D83CC"/>
                </a:solidFill>
                <a:latin typeface="Cambria" pitchFamily="34" charset="0"/>
                <a:ea typeface="Cambria" pitchFamily="34" charset="-122"/>
                <a:cs typeface="Cambria" pitchFamily="34" charset="-120"/>
              </a:rPr>
              <a:t>Site A — 8 findings</a:t>
            </a:r>
            <a:endParaRPr lang="en-US" sz="2000" dirty="0"/>
          </a:p>
        </p:txBody>
      </p:sp>
      <p:sp>
        <p:nvSpPr>
          <p:cNvPr id="8" name="Text 6"/>
          <p:cNvSpPr/>
          <p:nvPr/>
        </p:nvSpPr>
        <p:spPr>
          <a:xfrm>
            <a:off x="804672" y="2542032"/>
            <a:ext cx="4896612" cy="2286000"/>
          </a:xfrm>
          <a:prstGeom prst="rect">
            <a:avLst/>
          </a:prstGeom>
          <a:noFill/>
          <a:ln/>
        </p:spPr>
        <p:txBody>
          <a:bodyPr wrap="square" lIns="0" tIns="0" rIns="0" bIns="0" rtlCol="0" anchor="t"/>
          <a:lstStyle/>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Quarterly newsletter not filed</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Org chart out of date</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Phone listing missing</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Driver's licence copy expired</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Performance review unsigned</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Patient booklet not flagged</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Complaint form missing</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Attendance sheet incomplete</a:t>
            </a:r>
            <a:endParaRPr lang="en-US" sz="1200" dirty="0"/>
          </a:p>
        </p:txBody>
      </p:sp>
      <p:sp>
        <p:nvSpPr>
          <p:cNvPr id="9" name="Shape 7"/>
          <p:cNvSpPr/>
          <p:nvPr/>
        </p:nvSpPr>
        <p:spPr>
          <a:xfrm>
            <a:off x="804672" y="4956048"/>
            <a:ext cx="4896612" cy="502920"/>
          </a:xfrm>
          <a:prstGeom prst="roundRect">
            <a:avLst>
              <a:gd name="adj" fmla="val 10909"/>
            </a:avLst>
          </a:prstGeom>
          <a:solidFill>
            <a:srgbClr val="E7F4EC"/>
          </a:solidFill>
          <a:ln w="9525">
            <a:solidFill>
              <a:srgbClr val="8FC9A3"/>
            </a:solidFill>
            <a:prstDash val="solid"/>
          </a:ln>
        </p:spPr>
      </p:sp>
      <p:sp>
        <p:nvSpPr>
          <p:cNvPr id="10" name="Text 8"/>
          <p:cNvSpPr/>
          <p:nvPr/>
        </p:nvSpPr>
        <p:spPr>
          <a:xfrm>
            <a:off x="804672" y="4956048"/>
            <a:ext cx="4896612" cy="502920"/>
          </a:xfrm>
          <a:prstGeom prst="rect">
            <a:avLst/>
          </a:prstGeom>
          <a:noFill/>
          <a:ln/>
        </p:spPr>
        <p:txBody>
          <a:bodyPr wrap="square" lIns="0" tIns="0" rIns="0" bIns="0" rtlCol="0" anchor="ctr"/>
          <a:lstStyle/>
          <a:p>
            <a:pPr algn="ctr" indent="0" marL="0">
              <a:buNone/>
            </a:pPr>
            <a:r>
              <a:rPr lang="en-US" sz="1350" b="1" dirty="0">
                <a:solidFill>
                  <a:srgbClr val="1D7A4D"/>
                </a:solidFill>
                <a:latin typeface="Calibri" pitchFamily="34" charset="0"/>
                <a:ea typeface="Calibri" pitchFamily="34" charset="-122"/>
                <a:cs typeface="Calibri" pitchFamily="34" charset="-120"/>
              </a:rPr>
              <a:t>8 minor items · weighted 8</a:t>
            </a:r>
            <a:endParaRPr lang="en-US" sz="1350" dirty="0"/>
          </a:p>
        </p:txBody>
      </p:sp>
      <p:sp>
        <p:nvSpPr>
          <p:cNvPr id="11" name="Shape 9"/>
          <p:cNvSpPr/>
          <p:nvPr/>
        </p:nvSpPr>
        <p:spPr>
          <a:xfrm>
            <a:off x="6249924" y="1920240"/>
            <a:ext cx="5372100" cy="3675888"/>
          </a:xfrm>
          <a:prstGeom prst="roundRect">
            <a:avLst>
              <a:gd name="adj" fmla="val 1493"/>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2" name="Text 10"/>
          <p:cNvSpPr/>
          <p:nvPr/>
        </p:nvSpPr>
        <p:spPr>
          <a:xfrm>
            <a:off x="6487668" y="2066544"/>
            <a:ext cx="4896612" cy="384048"/>
          </a:xfrm>
          <a:prstGeom prst="rect">
            <a:avLst/>
          </a:prstGeom>
          <a:noFill/>
          <a:ln/>
        </p:spPr>
        <p:txBody>
          <a:bodyPr wrap="square" lIns="0" tIns="0" rIns="0" bIns="0" rtlCol="0" anchor="ctr"/>
          <a:lstStyle/>
          <a:p>
            <a:pPr indent="0" marL="0">
              <a:buNone/>
            </a:pPr>
            <a:r>
              <a:rPr lang="en-US" sz="2000" b="1" dirty="0">
                <a:solidFill>
                  <a:srgbClr val="9E2019"/>
                </a:solidFill>
                <a:latin typeface="Cambria" pitchFamily="34" charset="0"/>
                <a:ea typeface="Cambria" pitchFamily="34" charset="-122"/>
                <a:cs typeface="Cambria" pitchFamily="34" charset="-120"/>
              </a:rPr>
              <a:t>Site B — 2 findings</a:t>
            </a:r>
            <a:endParaRPr lang="en-US" sz="2000" dirty="0"/>
          </a:p>
        </p:txBody>
      </p:sp>
      <p:sp>
        <p:nvSpPr>
          <p:cNvPr id="13" name="Text 11"/>
          <p:cNvSpPr/>
          <p:nvPr/>
        </p:nvSpPr>
        <p:spPr>
          <a:xfrm>
            <a:off x="6487668" y="2542032"/>
            <a:ext cx="4896612" cy="2286000"/>
          </a:xfrm>
          <a:prstGeom prst="rect">
            <a:avLst/>
          </a:prstGeom>
          <a:noFill/>
          <a:ln/>
        </p:spPr>
        <p:txBody>
          <a:bodyPr wrap="square" lIns="0" tIns="0" rIns="0" bIns="0" rtlCol="0" anchor="t"/>
          <a:lstStyle/>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Concentrator alarm never verified with the patient</a:t>
            </a:r>
            <a:endParaRPr lang="en-US" sz="1200" dirty="0"/>
          </a:p>
          <a:p>
            <a:pPr marL="342900" indent="-342900">
              <a:lnSpc>
                <a:spcPts val="1650"/>
              </a:lnSpc>
              <a:spcAft>
                <a:spcPts val="300"/>
              </a:spcAft>
              <a:buSzPct val="100000"/>
              <a:buChar char="▪"/>
            </a:pPr>
            <a:r>
              <a:rPr lang="en-US" sz="1200" dirty="0">
                <a:solidFill>
                  <a:srgbClr val="131922"/>
                </a:solidFill>
                <a:latin typeface="Calibri" pitchFamily="34" charset="0"/>
                <a:ea typeface="Calibri" pitchFamily="34" charset="-122"/>
                <a:cs typeface="Calibri" pitchFamily="34" charset="-120"/>
              </a:rPr>
              <a:t>N95 fit test expired for two at-risk staff</a:t>
            </a:r>
            <a:endParaRPr lang="en-US" sz="1200" dirty="0"/>
          </a:p>
        </p:txBody>
      </p:sp>
      <p:sp>
        <p:nvSpPr>
          <p:cNvPr id="14" name="Shape 12"/>
          <p:cNvSpPr/>
          <p:nvPr/>
        </p:nvSpPr>
        <p:spPr>
          <a:xfrm>
            <a:off x="6487668" y="4956048"/>
            <a:ext cx="4896612" cy="502920"/>
          </a:xfrm>
          <a:prstGeom prst="roundRect">
            <a:avLst>
              <a:gd name="adj" fmla="val 10909"/>
            </a:avLst>
          </a:prstGeom>
          <a:solidFill>
            <a:srgbClr val="FBEAE7"/>
          </a:solidFill>
          <a:ln w="9525">
            <a:solidFill>
              <a:srgbClr val="E0A099"/>
            </a:solidFill>
            <a:prstDash val="solid"/>
          </a:ln>
        </p:spPr>
      </p:sp>
      <p:sp>
        <p:nvSpPr>
          <p:cNvPr id="15" name="Text 13"/>
          <p:cNvSpPr/>
          <p:nvPr/>
        </p:nvSpPr>
        <p:spPr>
          <a:xfrm>
            <a:off x="6487668" y="4956048"/>
            <a:ext cx="4896612" cy="502920"/>
          </a:xfrm>
          <a:prstGeom prst="rect">
            <a:avLst/>
          </a:prstGeom>
          <a:noFill/>
          <a:ln/>
        </p:spPr>
        <p:txBody>
          <a:bodyPr wrap="square" lIns="0" tIns="0" rIns="0" bIns="0" rtlCol="0" anchor="ctr"/>
          <a:lstStyle/>
          <a:p>
            <a:pPr algn="ctr" indent="0" marL="0">
              <a:buNone/>
            </a:pPr>
            <a:r>
              <a:rPr lang="en-US" sz="1350" b="1" dirty="0">
                <a:solidFill>
                  <a:srgbClr val="9E2019"/>
                </a:solidFill>
                <a:latin typeface="Calibri" pitchFamily="34" charset="0"/>
                <a:ea typeface="Calibri" pitchFamily="34" charset="-122"/>
                <a:cs typeface="Calibri" pitchFamily="34" charset="-120"/>
              </a:rPr>
              <a:t>2 critical items · weighted 10</a:t>
            </a:r>
            <a:endParaRPr lang="en-US" sz="1350" dirty="0"/>
          </a:p>
        </p:txBody>
      </p:sp>
      <p:sp>
        <p:nvSpPr>
          <p:cNvPr id="16" name="Text 14"/>
          <p:cNvSpPr/>
          <p:nvPr/>
        </p:nvSpPr>
        <p:spPr>
          <a:xfrm>
            <a:off x="566928" y="5833872"/>
            <a:ext cx="11055096" cy="365760"/>
          </a:xfrm>
          <a:prstGeom prst="rect">
            <a:avLst/>
          </a:prstGeom>
          <a:noFill/>
          <a:ln/>
        </p:spPr>
        <p:txBody>
          <a:bodyPr wrap="square" lIns="0" tIns="0" rIns="0" bIns="0" rtlCol="0" anchor="ctr"/>
          <a:lstStyle/>
          <a:p>
            <a:pPr algn="ctr" indent="0" marL="0">
              <a:buNone/>
            </a:pPr>
            <a:r>
              <a:rPr lang="en-US" sz="1300" i="1" dirty="0">
                <a:solidFill>
                  <a:srgbClr val="0B2545"/>
                </a:solidFill>
                <a:latin typeface="Calibri" pitchFamily="34" charset="0"/>
                <a:ea typeface="Calibri" pitchFamily="34" charset="-122"/>
                <a:cs typeface="Calibri" pitchFamily="34" charset="-120"/>
              </a:rPr>
              <a:t>On today's dashboard Site A ranks worse. Weighted, Site B ranks worse — and Site B is the one a surveyor would fail.</a:t>
            </a:r>
            <a:endParaRPr lang="en-US" sz="130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700784"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700784"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model</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Three severity tiers, two multipliers, one score. Simple enough to explain to a location manager.</a:t>
            </a:r>
            <a:endParaRPr lang="en-US" sz="1350" dirty="0"/>
          </a:p>
        </p:txBody>
      </p:sp>
      <p:sp>
        <p:nvSpPr>
          <p:cNvPr id="6" name="Shape 4"/>
          <p:cNvSpPr/>
          <p:nvPr/>
        </p:nvSpPr>
        <p:spPr>
          <a:xfrm>
            <a:off x="566928" y="1920240"/>
            <a:ext cx="6858000" cy="896112"/>
          </a:xfrm>
          <a:prstGeom prst="roundRect">
            <a:avLst>
              <a:gd name="adj" fmla="val 6122"/>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Shape 5"/>
          <p:cNvSpPr/>
          <p:nvPr/>
        </p:nvSpPr>
        <p:spPr>
          <a:xfrm>
            <a:off x="749808" y="2093976"/>
            <a:ext cx="1371600" cy="548640"/>
          </a:xfrm>
          <a:prstGeom prst="roundRect">
            <a:avLst>
              <a:gd name="adj" fmla="val 10000"/>
            </a:avLst>
          </a:prstGeom>
          <a:solidFill>
            <a:srgbClr val="FBEAE7"/>
          </a:solidFill>
          <a:ln w="12700">
            <a:solidFill>
              <a:srgbClr val="9E2019"/>
            </a:solidFill>
            <a:prstDash val="solid"/>
          </a:ln>
        </p:spPr>
      </p:sp>
      <p:sp>
        <p:nvSpPr>
          <p:cNvPr id="8" name="Text 6"/>
          <p:cNvSpPr/>
          <p:nvPr/>
        </p:nvSpPr>
        <p:spPr>
          <a:xfrm>
            <a:off x="749808" y="2093976"/>
            <a:ext cx="1371600" cy="548640"/>
          </a:xfrm>
          <a:prstGeom prst="rect">
            <a:avLst/>
          </a:prstGeom>
          <a:noFill/>
          <a:ln/>
        </p:spPr>
        <p:txBody>
          <a:bodyPr wrap="square" lIns="0" tIns="0" rIns="0" bIns="0" rtlCol="0" anchor="ctr"/>
          <a:lstStyle/>
          <a:p>
            <a:pPr algn="ctr" indent="0" marL="0">
              <a:buNone/>
            </a:pPr>
            <a:r>
              <a:rPr lang="en-US" sz="1250" b="1" dirty="0">
                <a:solidFill>
                  <a:srgbClr val="9E2019"/>
                </a:solidFill>
                <a:latin typeface="Calibri" pitchFamily="34" charset="0"/>
                <a:ea typeface="Calibri" pitchFamily="34" charset="-122"/>
                <a:cs typeface="Calibri" pitchFamily="34" charset="-120"/>
              </a:rPr>
              <a:t>Critical  ×5</a:t>
            </a:r>
            <a:endParaRPr lang="en-US" sz="1250" dirty="0"/>
          </a:p>
        </p:txBody>
      </p:sp>
      <p:sp>
        <p:nvSpPr>
          <p:cNvPr id="9" name="Text 7"/>
          <p:cNvSpPr/>
          <p:nvPr/>
        </p:nvSpPr>
        <p:spPr>
          <a:xfrm>
            <a:off x="2267712" y="2048256"/>
            <a:ext cx="5029200" cy="658368"/>
          </a:xfrm>
          <a:prstGeom prst="rect">
            <a:avLst/>
          </a:prstGeom>
          <a:noFill/>
          <a:ln/>
        </p:spPr>
        <p:txBody>
          <a:bodyPr wrap="square" lIns="0" tIns="0" rIns="0" bIns="0" rtlCol="0" anchor="ctr"/>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Patient-safety and licensure items: alarm and flow verification, grounding, cylinder storage, ventilator alarm and battery tests, expired competencies, TB and N95, licences, insurance</a:t>
            </a:r>
            <a:endParaRPr lang="en-US" sz="1050" dirty="0"/>
          </a:p>
        </p:txBody>
      </p:sp>
      <p:sp>
        <p:nvSpPr>
          <p:cNvPr id="10" name="Shape 8"/>
          <p:cNvSpPr/>
          <p:nvPr/>
        </p:nvSpPr>
        <p:spPr>
          <a:xfrm>
            <a:off x="566928" y="2944368"/>
            <a:ext cx="6858000" cy="896112"/>
          </a:xfrm>
          <a:prstGeom prst="roundRect">
            <a:avLst>
              <a:gd name="adj" fmla="val 6122"/>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1" name="Shape 9"/>
          <p:cNvSpPr/>
          <p:nvPr/>
        </p:nvSpPr>
        <p:spPr>
          <a:xfrm>
            <a:off x="749808" y="3118104"/>
            <a:ext cx="1371600" cy="548640"/>
          </a:xfrm>
          <a:prstGeom prst="roundRect">
            <a:avLst>
              <a:gd name="adj" fmla="val 10000"/>
            </a:avLst>
          </a:prstGeom>
          <a:solidFill>
            <a:srgbClr val="FBF0DB"/>
          </a:solidFill>
          <a:ln w="12700">
            <a:solidFill>
              <a:srgbClr val="B87A00"/>
            </a:solidFill>
            <a:prstDash val="solid"/>
          </a:ln>
        </p:spPr>
      </p:sp>
      <p:sp>
        <p:nvSpPr>
          <p:cNvPr id="12" name="Text 10"/>
          <p:cNvSpPr/>
          <p:nvPr/>
        </p:nvSpPr>
        <p:spPr>
          <a:xfrm>
            <a:off x="749808" y="3118104"/>
            <a:ext cx="1371600" cy="548640"/>
          </a:xfrm>
          <a:prstGeom prst="rect">
            <a:avLst/>
          </a:prstGeom>
          <a:noFill/>
          <a:ln/>
        </p:spPr>
        <p:txBody>
          <a:bodyPr wrap="square" lIns="0" tIns="0" rIns="0" bIns="0" rtlCol="0" anchor="ctr"/>
          <a:lstStyle/>
          <a:p>
            <a:pPr algn="ctr" indent="0" marL="0">
              <a:buNone/>
            </a:pPr>
            <a:r>
              <a:rPr lang="en-US" sz="1250" b="1" dirty="0">
                <a:solidFill>
                  <a:srgbClr val="B87A00"/>
                </a:solidFill>
                <a:latin typeface="Calibri" pitchFamily="34" charset="0"/>
                <a:ea typeface="Calibri" pitchFamily="34" charset="-122"/>
                <a:cs typeface="Calibri" pitchFamily="34" charset="-120"/>
              </a:rPr>
              <a:t>Major  ×3</a:t>
            </a:r>
            <a:endParaRPr lang="en-US" sz="1250" dirty="0"/>
          </a:p>
        </p:txBody>
      </p:sp>
      <p:sp>
        <p:nvSpPr>
          <p:cNvPr id="13" name="Text 11"/>
          <p:cNvSpPr/>
          <p:nvPr/>
        </p:nvSpPr>
        <p:spPr>
          <a:xfrm>
            <a:off x="2267712" y="3072384"/>
            <a:ext cx="5029200" cy="658368"/>
          </a:xfrm>
          <a:prstGeom prst="rect">
            <a:avLst/>
          </a:prstGeom>
          <a:noFill/>
          <a:ln/>
        </p:spPr>
        <p:txBody>
          <a:bodyPr wrap="square" lIns="0" tIns="0" rIns="0" bIns="0" rtlCol="0" anchor="ctr"/>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Accreditation documentation: binder records, EMR reviews, safety inspections, in-service records, SDS files, competencies expiring within six months</a:t>
            </a:r>
            <a:endParaRPr lang="en-US" sz="1050" dirty="0"/>
          </a:p>
        </p:txBody>
      </p:sp>
      <p:sp>
        <p:nvSpPr>
          <p:cNvPr id="14" name="Shape 12"/>
          <p:cNvSpPr/>
          <p:nvPr/>
        </p:nvSpPr>
        <p:spPr>
          <a:xfrm>
            <a:off x="566928" y="3968496"/>
            <a:ext cx="6858000" cy="896112"/>
          </a:xfrm>
          <a:prstGeom prst="roundRect">
            <a:avLst>
              <a:gd name="adj" fmla="val 6122"/>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5" name="Shape 13"/>
          <p:cNvSpPr/>
          <p:nvPr/>
        </p:nvSpPr>
        <p:spPr>
          <a:xfrm>
            <a:off x="749808" y="4142232"/>
            <a:ext cx="1371600" cy="548640"/>
          </a:xfrm>
          <a:prstGeom prst="roundRect">
            <a:avLst>
              <a:gd name="adj" fmla="val 10000"/>
            </a:avLst>
          </a:prstGeom>
          <a:solidFill>
            <a:srgbClr val="E8F1FA"/>
          </a:solidFill>
          <a:ln w="12700">
            <a:solidFill>
              <a:srgbClr val="3D83CC"/>
            </a:solidFill>
            <a:prstDash val="solid"/>
          </a:ln>
        </p:spPr>
      </p:sp>
      <p:sp>
        <p:nvSpPr>
          <p:cNvPr id="16" name="Text 14"/>
          <p:cNvSpPr/>
          <p:nvPr/>
        </p:nvSpPr>
        <p:spPr>
          <a:xfrm>
            <a:off x="749808" y="4142232"/>
            <a:ext cx="1371600" cy="548640"/>
          </a:xfrm>
          <a:prstGeom prst="rect">
            <a:avLst/>
          </a:prstGeom>
          <a:noFill/>
          <a:ln/>
        </p:spPr>
        <p:txBody>
          <a:bodyPr wrap="square" lIns="0" tIns="0" rIns="0" bIns="0" rtlCol="0" anchor="ctr"/>
          <a:lstStyle/>
          <a:p>
            <a:pPr algn="ctr" indent="0" marL="0">
              <a:buNone/>
            </a:pPr>
            <a:r>
              <a:rPr lang="en-US" sz="1250" b="1" dirty="0">
                <a:solidFill>
                  <a:srgbClr val="3D83CC"/>
                </a:solidFill>
                <a:latin typeface="Calibri" pitchFamily="34" charset="0"/>
                <a:ea typeface="Calibri" pitchFamily="34" charset="-122"/>
                <a:cs typeface="Calibri" pitchFamily="34" charset="-120"/>
              </a:rPr>
              <a:t>Minor  ×1</a:t>
            </a:r>
            <a:endParaRPr lang="en-US" sz="1250" dirty="0"/>
          </a:p>
        </p:txBody>
      </p:sp>
      <p:sp>
        <p:nvSpPr>
          <p:cNvPr id="17" name="Text 15"/>
          <p:cNvSpPr/>
          <p:nvPr/>
        </p:nvSpPr>
        <p:spPr>
          <a:xfrm>
            <a:off x="2267712" y="4096512"/>
            <a:ext cx="5029200" cy="658368"/>
          </a:xfrm>
          <a:prstGeom prst="rect">
            <a:avLst/>
          </a:prstGeom>
          <a:noFill/>
          <a:ln/>
        </p:spPr>
        <p:txBody>
          <a:bodyPr wrap="square" lIns="0" tIns="0" rIns="0" bIns="0" rtlCol="0" anchor="ctr"/>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Administrative and housekeeping: newsletters, filing order, org charts, phone listings, signage placement, booklet flagging</a:t>
            </a:r>
            <a:endParaRPr lang="en-US" sz="1050" dirty="0"/>
          </a:p>
        </p:txBody>
      </p:sp>
      <p:sp>
        <p:nvSpPr>
          <p:cNvPr id="18" name="Shape 16"/>
          <p:cNvSpPr/>
          <p:nvPr/>
        </p:nvSpPr>
        <p:spPr>
          <a:xfrm>
            <a:off x="7680960" y="1920240"/>
            <a:ext cx="3941064" cy="3017520"/>
          </a:xfrm>
          <a:prstGeom prst="roundRect">
            <a:avLst>
              <a:gd name="adj" fmla="val 1818"/>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9" name="Text 17"/>
          <p:cNvSpPr/>
          <p:nvPr/>
        </p:nvSpPr>
        <p:spPr>
          <a:xfrm>
            <a:off x="7918704" y="2084832"/>
            <a:ext cx="3474720" cy="329184"/>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Two multipliers</a:t>
            </a:r>
            <a:endParaRPr lang="en-US" sz="1700" dirty="0"/>
          </a:p>
        </p:txBody>
      </p:sp>
      <p:sp>
        <p:nvSpPr>
          <p:cNvPr id="20" name="Text 18"/>
          <p:cNvSpPr/>
          <p:nvPr/>
        </p:nvSpPr>
        <p:spPr>
          <a:xfrm>
            <a:off x="7918704" y="2505456"/>
            <a:ext cx="3474720" cy="13716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Recurrence — ×1.5 when a finding returns on a second visit, ×2 on a third or later</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Age — ×1.25 once open past 30 days, ×1.5 past 60 days</a:t>
            </a:r>
            <a:endParaRPr lang="en-US" sz="1200" dirty="0"/>
          </a:p>
        </p:txBody>
      </p:sp>
      <p:sp>
        <p:nvSpPr>
          <p:cNvPr id="21" name="Text 19"/>
          <p:cNvSpPr/>
          <p:nvPr/>
        </p:nvSpPr>
        <p:spPr>
          <a:xfrm>
            <a:off x="7918704" y="3931920"/>
            <a:ext cx="3520440" cy="822960"/>
          </a:xfrm>
          <a:prstGeom prst="rect">
            <a:avLst/>
          </a:prstGeom>
          <a:noFill/>
          <a:ln/>
        </p:spPr>
        <p:txBody>
          <a:bodyPr wrap="square" lIns="0" tIns="0" rIns="0" bIns="0" rtlCol="0" anchor="ctr"/>
          <a:lstStyle/>
          <a:p>
            <a:pPr indent="0" marL="0">
              <a:lnSpc>
                <a:spcPts val="1700"/>
              </a:lnSpc>
              <a:buNone/>
            </a:pPr>
            <a:r>
              <a:rPr lang="en-US" sz="1200" b="1" dirty="0">
                <a:solidFill>
                  <a:srgbClr val="0053A1"/>
                </a:solidFill>
                <a:latin typeface="Calibri" pitchFamily="34" charset="0"/>
                <a:ea typeface="Calibri" pitchFamily="34" charset="-122"/>
                <a:cs typeface="Calibri" pitchFamily="34" charset="-120"/>
              </a:rPr>
              <a:t>Score  =  100 − ( weighted findings ÷ weighted items assessed ) × 100</a:t>
            </a:r>
            <a:endParaRPr lang="en-US" sz="1200" dirty="0"/>
          </a:p>
        </p:txBody>
      </p:sp>
      <p:sp>
        <p:nvSpPr>
          <p:cNvPr id="22" name="Shape 20"/>
          <p:cNvSpPr/>
          <p:nvPr/>
        </p:nvSpPr>
        <p:spPr>
          <a:xfrm>
            <a:off x="566928" y="5120640"/>
            <a:ext cx="11055096" cy="1051560"/>
          </a:xfrm>
          <a:prstGeom prst="roundRect">
            <a:avLst>
              <a:gd name="adj" fmla="val 5217"/>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23" name="Text 21"/>
          <p:cNvSpPr/>
          <p:nvPr/>
        </p:nvSpPr>
        <p:spPr>
          <a:xfrm>
            <a:off x="841248" y="5248656"/>
            <a:ext cx="402336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Why this and not a percentage of items passed:</a:t>
            </a:r>
            <a:endParaRPr lang="en-US" sz="1250" dirty="0"/>
          </a:p>
        </p:txBody>
      </p:sp>
      <p:sp>
        <p:nvSpPr>
          <p:cNvPr id="24" name="Text 22"/>
          <p:cNvSpPr/>
          <p:nvPr/>
        </p:nvSpPr>
        <p:spPr>
          <a:xfrm>
            <a:off x="5001768" y="5230368"/>
            <a:ext cx="6492240" cy="822960"/>
          </a:xfrm>
          <a:prstGeom prst="rect">
            <a:avLst/>
          </a:prstGeom>
          <a:noFill/>
          <a:ln/>
        </p:spPr>
        <p:txBody>
          <a:bodyPr wrap="square" lIns="0" tIns="0" rIns="0" bIns="0" rtlCol="0" anchor="ctr"/>
          <a:lstStyle/>
          <a:p>
            <a:pPr indent="0" marL="0">
              <a:lnSpc>
                <a:spcPts val="1500"/>
              </a:lnSpc>
              <a:buNone/>
            </a:pPr>
            <a:r>
              <a:rPr lang="en-US" sz="1150" dirty="0">
                <a:solidFill>
                  <a:srgbClr val="5D6773"/>
                </a:solidFill>
                <a:latin typeface="Calibri" pitchFamily="34" charset="0"/>
                <a:ea typeface="Calibri" pitchFamily="34" charset="-122"/>
                <a:cs typeface="Calibri" pitchFamily="34" charset="-120"/>
              </a:rPr>
              <a:t>A flat percentage is dominated by the 100+ routine items every location passes, so it barely moves and hides the findings that matter. Weighting the denominator the same way as the numerator keeps the score sensitive to severity while staying comparable between a five-employee site and a thirty-employee one.</a:t>
            </a:r>
            <a:endParaRPr lang="en-US" sz="1150" dirty="0"/>
          </a:p>
        </p:txBody>
      </p:sp>
      <p:sp>
        <p:nvSpPr>
          <p:cNvPr id="25" name="Text 23"/>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6" name="Text 24"/>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31012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31012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 · PROPOSED</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What the weighted dashboard would look like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Built on the same visits the live dashboard already holds — this is a redisplay of existing data, not new data collection.</a:t>
            </a:r>
            <a:endParaRPr lang="en-US" sz="1350" dirty="0"/>
          </a:p>
        </p:txBody>
      </p:sp>
      <p:sp>
        <p:nvSpPr>
          <p:cNvPr id="6" name="Shape 4"/>
          <p:cNvSpPr/>
          <p:nvPr/>
        </p:nvSpPr>
        <p:spPr>
          <a:xfrm>
            <a:off x="704360" y="1810512"/>
            <a:ext cx="7314657"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31-weighted-top.jpg">    </p:cNvPr>
          <p:cNvPicPr>
            <a:picLocks noChangeAspect="1"/>
          </p:cNvPicPr>
          <p:nvPr/>
        </p:nvPicPr>
        <p:blipFill>
          <a:blip r:embed="rId1"/>
          <a:stretch>
            <a:fillRect/>
          </a:stretch>
        </p:blipFill>
        <p:spPr>
          <a:xfrm>
            <a:off x="768368" y="1874520"/>
            <a:ext cx="7186641"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Proposed Weighted Compliance view — mock-up, computed from the same demo dataset shown earlier</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One headline number</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A weighted score that can be tracked, targeted and compared across regions</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Severity split</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Where score loss actually comes from, not how many boxes were ticked</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Trend that means something</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A month with fewer but more serious findings correctly scores worse</a:t>
            </a:r>
            <a:endParaRPr lang="en-US" sz="105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31012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31012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 · PROPOSED</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Where 'most findings' and 'most risk' disagree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ranking change is the payoff. Sites move when severity is taken into account — and the movers are the interesting ones.</a:t>
            </a:r>
            <a:endParaRPr lang="en-US" sz="1350" dirty="0"/>
          </a:p>
        </p:txBody>
      </p:sp>
      <p:sp>
        <p:nvSpPr>
          <p:cNvPr id="6" name="Shape 4"/>
          <p:cNvSpPr/>
          <p:nvPr/>
        </p:nvSpPr>
        <p:spPr>
          <a:xfrm>
            <a:off x="594360" y="2162327"/>
            <a:ext cx="7534656" cy="3456889"/>
          </a:xfrm>
          <a:prstGeom prst="roundRect">
            <a:avLst>
              <a:gd name="adj" fmla="val 1058"/>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c31b-weighted-detail.jpg">    </p:cNvPr>
          <p:cNvPicPr>
            <a:picLocks noChangeAspect="1"/>
          </p:cNvPicPr>
          <p:nvPr/>
        </p:nvPicPr>
        <p:blipFill>
          <a:blip r:embed="rId1"/>
          <a:stretch>
            <a:fillRect/>
          </a:stretch>
        </p:blipFill>
        <p:spPr>
          <a:xfrm>
            <a:off x="658368" y="2226335"/>
            <a:ext cx="7406640" cy="3328873"/>
          </a:xfrm>
          <a:prstGeom prst="rect">
            <a:avLst/>
          </a:prstGeom>
        </p:spPr>
      </p:pic>
      <p:sp>
        <p:nvSpPr>
          <p:cNvPr id="8" name="Text 5"/>
          <p:cNvSpPr/>
          <p:nvPr/>
        </p:nvSpPr>
        <p:spPr>
          <a:xfrm>
            <a:off x="566928" y="5683225"/>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Proposed risk ranking and rank-shift table — mock-up on demo data</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Risk ranking</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Severity × recurrence, so a repeat critical finding outranks a pile of one-off minor ones</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Rank shift</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Sites that move between the two rankings are where the current view is misleading us</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Work queue</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Weighted score loss by binder tells the team what to fix first, company-wide</a:t>
            </a:r>
            <a:endParaRPr lang="en-US" sz="1050" dirty="0"/>
          </a:p>
        </p:txBody>
      </p:sp>
      <p:sp>
        <p:nvSpPr>
          <p:cNvPr id="18"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9"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331012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331012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 · PROPOSED</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The gap we cannot currently see</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A site with no findings on the dashboard is not the same as a site in good shape — it may simply not have been visited.</a:t>
            </a:r>
            <a:endParaRPr lang="en-US" sz="1350" dirty="0"/>
          </a:p>
        </p:txBody>
      </p:sp>
      <p:sp>
        <p:nvSpPr>
          <p:cNvPr id="6" name="Shape 4"/>
          <p:cNvSpPr/>
          <p:nvPr/>
        </p:nvSpPr>
        <p:spPr>
          <a:xfrm>
            <a:off x="1152746" y="1810512"/>
            <a:ext cx="6417884" cy="4160520"/>
          </a:xfrm>
          <a:prstGeom prst="roundRect">
            <a:avLst>
              <a:gd name="adj" fmla="val 87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7" name="Image 0" descr="/tmp/claude-0/-home-user-rotech-survey-prep/83831baf-ce80-5cc5-b8c6-b0e43c1938af/scratchpad/shots/opt/32-mock-gaps.jpg">    </p:cNvPr>
          <p:cNvPicPr>
            <a:picLocks noChangeAspect="1"/>
          </p:cNvPicPr>
          <p:nvPr/>
        </p:nvPicPr>
        <p:blipFill>
          <a:blip r:embed="rId1"/>
          <a:stretch>
            <a:fillRect/>
          </a:stretch>
        </p:blipFill>
        <p:spPr>
          <a:xfrm>
            <a:off x="1216754" y="1874520"/>
            <a:ext cx="6289868" cy="4032504"/>
          </a:xfrm>
          <a:prstGeom prst="rect">
            <a:avLst/>
          </a:prstGeom>
        </p:spPr>
      </p:pic>
      <p:sp>
        <p:nvSpPr>
          <p:cNvPr id="8" name="Text 5"/>
          <p:cNvSpPr/>
          <p:nvPr/>
        </p:nvSpPr>
        <p:spPr>
          <a:xfrm>
            <a:off x="566928" y="6035040"/>
            <a:ext cx="758952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Proposed Coverage &amp; Gaps view — mock-up; coverage figures reflect the demo dataset, not the real roster</a:t>
            </a:r>
            <a:endParaRPr lang="en-US" sz="1000" dirty="0"/>
          </a:p>
        </p:txBody>
      </p:sp>
      <p:sp>
        <p:nvSpPr>
          <p:cNvPr id="9" name="Shape 6"/>
          <p:cNvSpPr/>
          <p:nvPr/>
        </p:nvSpPr>
        <p:spPr>
          <a:xfrm>
            <a:off x="8339328" y="1810512"/>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7"/>
          <p:cNvSpPr/>
          <p:nvPr/>
        </p:nvSpPr>
        <p:spPr>
          <a:xfrm>
            <a:off x="8522208" y="1920240"/>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Coverage gaps</a:t>
            </a:r>
            <a:endParaRPr lang="en-US" sz="1250" dirty="0"/>
          </a:p>
        </p:txBody>
      </p:sp>
      <p:sp>
        <p:nvSpPr>
          <p:cNvPr id="11" name="Text 8"/>
          <p:cNvSpPr/>
          <p:nvPr/>
        </p:nvSpPr>
        <p:spPr>
          <a:xfrm>
            <a:off x="8522208" y="2194560"/>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Sites with no visit inside the review window — invisible on today's dashboard because they generate no findings</a:t>
            </a:r>
            <a:endParaRPr lang="en-US" sz="1050" dirty="0"/>
          </a:p>
        </p:txBody>
      </p:sp>
      <p:sp>
        <p:nvSpPr>
          <p:cNvPr id="12" name="Shape 9"/>
          <p:cNvSpPr/>
          <p:nvPr/>
        </p:nvSpPr>
        <p:spPr>
          <a:xfrm>
            <a:off x="8339328" y="3352800"/>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8522208" y="3462528"/>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Ageing findings</a:t>
            </a:r>
            <a:endParaRPr lang="en-US" sz="1250" dirty="0"/>
          </a:p>
        </p:txBody>
      </p:sp>
      <p:sp>
        <p:nvSpPr>
          <p:cNvPr id="14" name="Text 11"/>
          <p:cNvSpPr/>
          <p:nvPr/>
        </p:nvSpPr>
        <p:spPr>
          <a:xfrm>
            <a:off x="8522208" y="3736848"/>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Weighted points still outstanding by age band, so stale items rise up the queue instead of sitting quietly</a:t>
            </a:r>
            <a:endParaRPr lang="en-US" sz="1050" dirty="0"/>
          </a:p>
        </p:txBody>
      </p:sp>
      <p:sp>
        <p:nvSpPr>
          <p:cNvPr id="15" name="Shape 12"/>
          <p:cNvSpPr/>
          <p:nvPr/>
        </p:nvSpPr>
        <p:spPr>
          <a:xfrm>
            <a:off x="8339328" y="4895088"/>
            <a:ext cx="3282696" cy="1359408"/>
          </a:xfrm>
          <a:prstGeom prst="roundRect">
            <a:avLst>
              <a:gd name="adj" fmla="val 403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3"/>
          <p:cNvSpPr/>
          <p:nvPr/>
        </p:nvSpPr>
        <p:spPr>
          <a:xfrm>
            <a:off x="8522208" y="5004816"/>
            <a:ext cx="2916936" cy="274320"/>
          </a:xfrm>
          <a:prstGeom prst="rect">
            <a:avLst/>
          </a:prstGeom>
          <a:noFill/>
          <a:ln/>
        </p:spPr>
        <p:txBody>
          <a:bodyPr wrap="square" lIns="0" tIns="0" rIns="0" bIns="0" rtlCol="0" anchor="ctr"/>
          <a:lstStyle/>
          <a:p>
            <a:pPr indent="0" marL="0">
              <a:buNone/>
            </a:pPr>
            <a:r>
              <a:rPr lang="en-US" sz="1250" b="1" dirty="0">
                <a:solidFill>
                  <a:srgbClr val="0053A1"/>
                </a:solidFill>
                <a:latin typeface="Calibri" pitchFamily="34" charset="0"/>
                <a:ea typeface="Calibri" pitchFamily="34" charset="-122"/>
                <a:cs typeface="Calibri" pitchFamily="34" charset="-120"/>
              </a:rPr>
              <a:t>Rolled up the org chart</a:t>
            </a:r>
            <a:endParaRPr lang="en-US" sz="1250" dirty="0"/>
          </a:p>
        </p:txBody>
      </p:sp>
      <p:sp>
        <p:nvSpPr>
          <p:cNvPr id="17" name="Text 14"/>
          <p:cNvSpPr/>
          <p:nvPr/>
        </p:nvSpPr>
        <p:spPr>
          <a:xfrm>
            <a:off x="8522208" y="5279136"/>
            <a:ext cx="2916936" cy="847344"/>
          </a:xfrm>
          <a:prstGeom prst="rect">
            <a:avLst/>
          </a:prstGeom>
          <a:noFill/>
          <a:ln/>
        </p:spPr>
        <p:txBody>
          <a:bodyPr wrap="square" lIns="0" tIns="0" rIns="0" bIns="0" rtlCol="0" anchor="t"/>
          <a:lstStyle/>
          <a:p>
            <a:pPr indent="0" marL="0">
              <a:lnSpc>
                <a:spcPts val="1400"/>
              </a:lnSpc>
              <a:buNone/>
            </a:pPr>
            <a:r>
              <a:rPr lang="en-US" sz="1050" dirty="0">
                <a:solidFill>
                  <a:srgbClr val="5D6773"/>
                </a:solidFill>
                <a:latin typeface="Calibri" pitchFamily="34" charset="0"/>
                <a:ea typeface="Calibri" pitchFamily="34" charset="-122"/>
                <a:cs typeface="Calibri" pitchFamily="34" charset="-120"/>
              </a:rPr>
              <a:t>The same weighted score by region and area manager, measured against a target</a:t>
            </a:r>
            <a:endParaRPr lang="en-US" sz="1050" dirty="0"/>
          </a:p>
        </p:txBody>
      </p:sp>
      <p:sp>
        <p:nvSpPr>
          <p:cNvPr id="19"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700784"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700784"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WEIGHTING</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What it takes to build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scoring is arithmetic on data the app already stores. The work is in the tiering decisions, not the code.</a:t>
            </a:r>
            <a:endParaRPr lang="en-US" sz="13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914400"/>
        </p:xfrm>
        <a:graphic>
          <a:graphicData uri="http://schemas.openxmlformats.org/drawingml/2006/table">
            <a:tbl>
              <a:tblPr/>
              <a:tblGrid>
                <a:gridCol w="3657600"/>
                <a:gridCol w="2286000"/>
                <a:gridCol w="1463040"/>
                <a:gridCol w="3666744"/>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Work</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Effort</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Note</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Assign a tier to every checklist item</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Accreditation team</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1–2 days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The real decision. 174 items plus the JC 427 and OP 541 rows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Store the tier with each item</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Development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Half a day</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One field per item; no change to how a visit is entered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Weighted score and risk index</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Development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1–2 days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Computed from findings already recorded on every finalized visit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Weighted views in the dashboard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Development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2–3 days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New tab alongside the existing seven; nothing removed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Timestamp follow-up closure</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Development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1 day</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Needed for the ageing multiplier — not captured today</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475488">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Backfill existing visits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Automatic</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Historic findings re-score as soon as tiers exist; no re-entry</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bl>
          </a:graphicData>
        </a:graphic>
      </p:graphicFrame>
      <p:sp>
        <p:nvSpPr>
          <p:cNvPr id="7" name="Text 4"/>
          <p:cNvSpPr/>
          <p:nvPr/>
        </p:nvSpPr>
        <p:spPr>
          <a:xfrm>
            <a:off x="566928" y="5559552"/>
            <a:ext cx="11055096" cy="457200"/>
          </a:xfrm>
          <a:prstGeom prst="rect">
            <a:avLst/>
          </a:prstGeom>
          <a:noFill/>
          <a:ln/>
        </p:spPr>
        <p:txBody>
          <a:bodyPr wrap="square" lIns="0" tIns="0" rIns="0" bIns="0" rtlCol="0" anchor="t"/>
          <a:lstStyle/>
          <a:p>
            <a:pPr indent="0" marL="0">
              <a:lnSpc>
                <a:spcPts val="1400"/>
              </a:lnSpc>
              <a:buNone/>
            </a:pPr>
            <a:r>
              <a:rPr lang="en-US" sz="1050" i="1" dirty="0">
                <a:solidFill>
                  <a:srgbClr val="8A94A1"/>
                </a:solidFill>
                <a:latin typeface="Calibri" pitchFamily="34" charset="0"/>
                <a:ea typeface="Calibri" pitchFamily="34" charset="-122"/>
                <a:cs typeface="Calibri" pitchFamily="34" charset="-120"/>
              </a:rPr>
              <a:t>Tiering is a clinical and regulatory judgement, not a technical one — it should be signed off by the department, and revisited annually with the standards.</a:t>
            </a:r>
            <a:endParaRPr lang="en-US" sz="1050" dirty="0"/>
          </a:p>
        </p:txBody>
      </p:sp>
      <p:sp>
        <p:nvSpPr>
          <p:cNvPr id="8" name="Text 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9" name="Text 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66928" y="1371600"/>
            <a:ext cx="2194560" cy="1554480"/>
          </a:xfrm>
          <a:prstGeom prst="rect">
            <a:avLst/>
          </a:prstGeom>
          <a:noFill/>
          <a:ln/>
        </p:spPr>
        <p:txBody>
          <a:bodyPr wrap="square" lIns="0" tIns="0" rIns="0" bIns="0" rtlCol="0" anchor="ctr"/>
          <a:lstStyle/>
          <a:p>
            <a:pPr indent="0" marL="0">
              <a:buNone/>
            </a:pPr>
            <a:r>
              <a:rPr lang="en-US" sz="9600" b="1" dirty="0">
                <a:solidFill>
                  <a:srgbClr val="1E4E80"/>
                </a:solidFill>
                <a:latin typeface="Cambria" pitchFamily="34" charset="0"/>
                <a:ea typeface="Cambria" pitchFamily="34" charset="-122"/>
                <a:cs typeface="Cambria" pitchFamily="34" charset="-120"/>
              </a:rPr>
              <a:t>05</a:t>
            </a:r>
            <a:endParaRPr lang="en-US" sz="9600" dirty="0"/>
          </a:p>
        </p:txBody>
      </p:sp>
      <p:sp>
        <p:nvSpPr>
          <p:cNvPr id="3" name="Text 1"/>
          <p:cNvSpPr/>
          <p:nvPr/>
        </p:nvSpPr>
        <p:spPr>
          <a:xfrm>
            <a:off x="566928" y="2834640"/>
            <a:ext cx="69494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value</a:t>
            </a:r>
            <a:endParaRPr lang="en-US" sz="3800" dirty="0"/>
          </a:p>
        </p:txBody>
      </p:sp>
      <p:sp>
        <p:nvSpPr>
          <p:cNvPr id="4" name="Text 2"/>
          <p:cNvSpPr/>
          <p:nvPr/>
        </p:nvSpPr>
        <p:spPr>
          <a:xfrm>
            <a:off x="566928" y="3794760"/>
            <a:ext cx="6766560" cy="1828800"/>
          </a:xfrm>
          <a:prstGeom prst="rect">
            <a:avLst/>
          </a:prstGeom>
          <a:noFill/>
          <a:ln/>
        </p:spPr>
        <p:txBody>
          <a:bodyPr wrap="square" lIns="0" tIns="0" rIns="0" bIns="0" rtlCol="0" anchor="t"/>
          <a:lstStyle/>
          <a:p>
            <a:pPr indent="0" marL="0">
              <a:lnSpc>
                <a:spcPts val="2100"/>
              </a:lnSpc>
              <a:buNone/>
            </a:pPr>
            <a:r>
              <a:rPr lang="en-US" sz="1450" dirty="0">
                <a:solidFill>
                  <a:srgbClr val="AFC4DC"/>
                </a:solidFill>
                <a:latin typeface="Calibri" pitchFamily="34" charset="0"/>
                <a:ea typeface="Calibri" pitchFamily="34" charset="-122"/>
                <a:cs typeface="Calibri" pitchFamily="34" charset="-120"/>
              </a:rPr>
              <a:t>Time returned to specialists, risk found earlier, and a dataset the department has never had.</a:t>
            </a:r>
            <a:endParaRPr lang="en-US" sz="1450" dirty="0"/>
          </a:p>
        </p:txBody>
      </p:sp>
      <p:sp>
        <p:nvSpPr>
          <p:cNvPr id="5" name="Shape 3"/>
          <p:cNvSpPr/>
          <p:nvPr/>
        </p:nvSpPr>
        <p:spPr>
          <a:xfrm>
            <a:off x="7909560" y="1600200"/>
            <a:ext cx="3749040" cy="841248"/>
          </a:xfrm>
          <a:prstGeom prst="roundRect">
            <a:avLst>
              <a:gd name="adj" fmla="val 6522"/>
            </a:avLst>
          </a:prstGeom>
          <a:solidFill>
            <a:srgbClr val="12315A"/>
          </a:solidFill>
          <a:ln w="9525">
            <a:solidFill>
              <a:srgbClr val="24507F"/>
            </a:solidFill>
            <a:prstDash val="solid"/>
          </a:ln>
        </p:spPr>
      </p:sp>
      <p:sp>
        <p:nvSpPr>
          <p:cNvPr id="6" name="Text 4"/>
          <p:cNvSpPr/>
          <p:nvPr/>
        </p:nvSpPr>
        <p:spPr>
          <a:xfrm>
            <a:off x="8110728" y="1700784"/>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 visit</a:t>
            </a:r>
            <a:endParaRPr lang="en-US" sz="1500" dirty="0"/>
          </a:p>
        </p:txBody>
      </p:sp>
      <p:sp>
        <p:nvSpPr>
          <p:cNvPr id="7" name="Text 5"/>
          <p:cNvSpPr/>
          <p:nvPr/>
        </p:nvSpPr>
        <p:spPr>
          <a:xfrm>
            <a:off x="8110728" y="2002536"/>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Hours of retyping removed</a:t>
            </a:r>
            <a:endParaRPr lang="en-US" sz="1050" dirty="0"/>
          </a:p>
        </p:txBody>
      </p:sp>
      <p:sp>
        <p:nvSpPr>
          <p:cNvPr id="8" name="Shape 6"/>
          <p:cNvSpPr/>
          <p:nvPr/>
        </p:nvSpPr>
        <p:spPr>
          <a:xfrm>
            <a:off x="7909560" y="2624328"/>
            <a:ext cx="3749040" cy="841248"/>
          </a:xfrm>
          <a:prstGeom prst="roundRect">
            <a:avLst>
              <a:gd name="adj" fmla="val 6522"/>
            </a:avLst>
          </a:prstGeom>
          <a:solidFill>
            <a:srgbClr val="12315A"/>
          </a:solidFill>
          <a:ln w="9525">
            <a:solidFill>
              <a:srgbClr val="24507F"/>
            </a:solidFill>
            <a:prstDash val="solid"/>
          </a:ln>
        </p:spPr>
      </p:sp>
      <p:sp>
        <p:nvSpPr>
          <p:cNvPr id="9" name="Text 7"/>
          <p:cNvSpPr/>
          <p:nvPr/>
        </p:nvSpPr>
        <p:spPr>
          <a:xfrm>
            <a:off x="8110728" y="2724912"/>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 month</a:t>
            </a:r>
            <a:endParaRPr lang="en-US" sz="1500" dirty="0"/>
          </a:p>
        </p:txBody>
      </p:sp>
      <p:sp>
        <p:nvSpPr>
          <p:cNvPr id="10" name="Text 8"/>
          <p:cNvSpPr/>
          <p:nvPr/>
        </p:nvSpPr>
        <p:spPr>
          <a:xfrm>
            <a:off x="8110728" y="3026664"/>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Trend consolidation gone entirely</a:t>
            </a:r>
            <a:endParaRPr lang="en-US" sz="1050" dirty="0"/>
          </a:p>
        </p:txBody>
      </p:sp>
      <p:sp>
        <p:nvSpPr>
          <p:cNvPr id="11" name="Shape 9"/>
          <p:cNvSpPr/>
          <p:nvPr/>
        </p:nvSpPr>
        <p:spPr>
          <a:xfrm>
            <a:off x="7909560" y="3648456"/>
            <a:ext cx="3749040" cy="841248"/>
          </a:xfrm>
          <a:prstGeom prst="roundRect">
            <a:avLst>
              <a:gd name="adj" fmla="val 6522"/>
            </a:avLst>
          </a:prstGeom>
          <a:solidFill>
            <a:srgbClr val="12315A"/>
          </a:solidFill>
          <a:ln w="9525">
            <a:solidFill>
              <a:srgbClr val="24507F"/>
            </a:solidFill>
            <a:prstDash val="solid"/>
          </a:ln>
        </p:spPr>
      </p:sp>
      <p:sp>
        <p:nvSpPr>
          <p:cNvPr id="12" name="Text 10"/>
          <p:cNvSpPr/>
          <p:nvPr/>
        </p:nvSpPr>
        <p:spPr>
          <a:xfrm>
            <a:off x="8110728" y="3749040"/>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 survey</a:t>
            </a:r>
            <a:endParaRPr lang="en-US" sz="1500" dirty="0"/>
          </a:p>
        </p:txBody>
      </p:sp>
      <p:sp>
        <p:nvSpPr>
          <p:cNvPr id="13" name="Text 11"/>
          <p:cNvSpPr/>
          <p:nvPr/>
        </p:nvSpPr>
        <p:spPr>
          <a:xfrm>
            <a:off x="8110728" y="4050792"/>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Mismatches and repeats found first</a:t>
            </a:r>
            <a:endParaRPr lang="en-US" sz="1050" dirty="0"/>
          </a:p>
        </p:txBody>
      </p:sp>
      <p:sp>
        <p:nvSpPr>
          <p:cNvPr id="14" name="Shape 12"/>
          <p:cNvSpPr/>
          <p:nvPr/>
        </p:nvSpPr>
        <p:spPr>
          <a:xfrm>
            <a:off x="7909560" y="4672584"/>
            <a:ext cx="3749040" cy="841248"/>
          </a:xfrm>
          <a:prstGeom prst="roundRect">
            <a:avLst>
              <a:gd name="adj" fmla="val 6522"/>
            </a:avLst>
          </a:prstGeom>
          <a:solidFill>
            <a:srgbClr val="12315A"/>
          </a:solidFill>
          <a:ln w="9525">
            <a:solidFill>
              <a:srgbClr val="24507F"/>
            </a:solidFill>
            <a:prstDash val="solid"/>
          </a:ln>
        </p:spPr>
      </p:sp>
      <p:sp>
        <p:nvSpPr>
          <p:cNvPr id="15" name="Text 13"/>
          <p:cNvSpPr/>
          <p:nvPr/>
        </p:nvSpPr>
        <p:spPr>
          <a:xfrm>
            <a:off x="8110728" y="4773168"/>
            <a:ext cx="338328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Ongoing</a:t>
            </a:r>
            <a:endParaRPr lang="en-US" sz="1500" dirty="0"/>
          </a:p>
        </p:txBody>
      </p:sp>
      <p:sp>
        <p:nvSpPr>
          <p:cNvPr id="16" name="Text 14"/>
          <p:cNvSpPr/>
          <p:nvPr/>
        </p:nvSpPr>
        <p:spPr>
          <a:xfrm>
            <a:off x="8110728" y="5074920"/>
            <a:ext cx="3383280" cy="347472"/>
          </a:xfrm>
          <a:prstGeom prst="rect">
            <a:avLst/>
          </a:prstGeom>
          <a:noFill/>
          <a:ln/>
        </p:spPr>
        <p:txBody>
          <a:bodyPr wrap="square" lIns="0" tIns="0" rIns="0" bIns="0" rtlCol="0" anchor="t"/>
          <a:lstStyle/>
          <a:p>
            <a:pPr indent="0" marL="0">
              <a:buNone/>
            </a:pPr>
            <a:r>
              <a:rPr lang="en-US" sz="1050" dirty="0">
                <a:solidFill>
                  <a:srgbClr val="9FB8D4"/>
                </a:solidFill>
                <a:latin typeface="Calibri" pitchFamily="34" charset="0"/>
                <a:ea typeface="Calibri" pitchFamily="34" charset="-122"/>
                <a:cs typeface="Calibri" pitchFamily="34" charset="-120"/>
              </a:rPr>
              <a:t>One dataset, not many files</a:t>
            </a:r>
            <a:endParaRPr lang="en-US" sz="1050" dirty="0"/>
          </a:p>
        </p:txBody>
      </p:sp>
      <p:sp>
        <p:nvSpPr>
          <p:cNvPr id="17" name="Text 1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18" name="Text 1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11556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11556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VALUE</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Where the time goes today</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Estimates to be validated against the team's own numbers — the arithmetic is shown so they can be replaced.</a:t>
            </a:r>
            <a:endParaRPr lang="en-US" sz="13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938528"/>
          <a:ext cx="11055096" cy="914400"/>
        </p:xfrm>
        <a:graphic>
          <a:graphicData uri="http://schemas.openxmlformats.org/drawingml/2006/table">
            <a:tbl>
              <a:tblPr/>
              <a:tblGrid>
                <a:gridCol w="5568696"/>
                <a:gridCol w="1554480"/>
                <a:gridCol w="2194560"/>
                <a:gridCol w="17373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Today (min)</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With the app (min)</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Saved (min)</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Writing up the visit report and follow-up email</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Transcribing OP 541 / 541T and comparing to the self-audit</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JC 427 personnel review — transcription and expiry dates</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Building and distributing the follow-up list</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32918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Chasing follow-up status to closure</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Per visit</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DCE7F3"/>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DCE7F3"/>
                    </a:solidFill>
                  </a:tcPr>
                </a:tc>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DCE7F3"/>
                    </a:solidFill>
                  </a:tcPr>
                </a:tc>
                <a:tc>
                  <a:txBody>
                    <a:bodyPr/>
                    <a:lstStyle/>
                    <a:p>
                      <a:pPr algn="ctr" indent="0" marL="0">
                        <a:buNone/>
                      </a:pPr>
                      <a:r>
                        <a:rPr lang="en-US" sz="1200" b="1" dirty="0">
                          <a:solidFill>
                            <a:srgbClr val="1D7A4D"/>
                          </a:solidFill>
                          <a:latin typeface="Calibri" pitchFamily="34" charset="0"/>
                          <a:ea typeface="Calibri" pitchFamily="34" charset="-122"/>
                          <a:cs typeface="Calibri" pitchFamily="34" charset="-120"/>
                        </a:rPr>
                        <a:t>288  ·  4.8 hrs</a:t>
                      </a:r>
                      <a:endParaRPr lang="en-US" sz="1200" dirty="0">
                        <a:latin typeface="Calibri" charset="0"/>
                        <a:ea typeface="Calibri" charset="0"/>
                        <a:cs typeface="Calibri" charset="0"/>
                      </a:endParaRPr>
                    </a:p>
                  </a:txBody>
                  <a:tcPr marL="101600" marR="101600" marT="50800" marB="508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DCE7F3"/>
                    </a:solidFill>
                  </a:tcPr>
                </a:tc>
              </a:tr>
            </a:tbl>
          </a:graphicData>
        </a:graphic>
      </p:graphicFrame>
      <p:sp>
        <p:nvSpPr>
          <p:cNvPr id="7" name="Text 4"/>
          <p:cNvSpPr/>
          <p:nvPr/>
        </p:nvSpPr>
        <p:spPr>
          <a:xfrm>
            <a:off x="566928" y="4617720"/>
            <a:ext cx="11055096" cy="310896"/>
          </a:xfrm>
          <a:prstGeom prst="rect">
            <a:avLst/>
          </a:prstGeom>
          <a:noFill/>
          <a:ln/>
        </p:spPr>
        <p:txBody>
          <a:bodyPr wrap="square" lIns="0" tIns="0" rIns="0" bIns="0" rtlCol="0" anchor="ctr"/>
          <a:lstStyle/>
          <a:p>
            <a:pPr indent="0" marL="0">
              <a:buNone/>
            </a:pPr>
            <a:r>
              <a:rPr lang="en-US" sz="1200" i="1" dirty="0">
                <a:solidFill>
                  <a:srgbClr val="5D6773"/>
                </a:solidFill>
                <a:latin typeface="Calibri" pitchFamily="34" charset="0"/>
                <a:ea typeface="Calibri" pitchFamily="34" charset="-122"/>
                <a:cs typeface="Calibri" pitchFamily="34" charset="-120"/>
              </a:rPr>
              <a:t>Plus the monthly trend consolidation — previously a manual gather across every specialist's files, now continuous and free.</a:t>
            </a:r>
            <a:endParaRPr lang="en-US" sz="1200" dirty="0"/>
          </a:p>
        </p:txBody>
      </p:sp>
      <p:sp>
        <p:nvSpPr>
          <p:cNvPr id="8" name="Shape 5"/>
          <p:cNvSpPr/>
          <p:nvPr/>
        </p:nvSpPr>
        <p:spPr>
          <a:xfrm>
            <a:off x="566928" y="5029200"/>
            <a:ext cx="2599182" cy="1481328"/>
          </a:xfrm>
          <a:prstGeom prst="roundRect">
            <a:avLst>
              <a:gd name="adj" fmla="val 370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9" name="Text 6"/>
          <p:cNvSpPr/>
          <p:nvPr/>
        </p:nvSpPr>
        <p:spPr>
          <a:xfrm>
            <a:off x="749808" y="5175504"/>
            <a:ext cx="2233422" cy="713232"/>
          </a:xfrm>
          <a:prstGeom prst="rect">
            <a:avLst/>
          </a:prstGeom>
          <a:noFill/>
          <a:ln/>
        </p:spPr>
        <p:txBody>
          <a:bodyPr wrap="square" lIns="0" tIns="0" rIns="0" bIns="0" rtlCol="0" anchor="ctr"/>
          <a:lstStyle/>
          <a:p>
            <a:pPr indent="0" marL="0">
              <a:buNone/>
            </a:pPr>
            <a:r>
              <a:rPr lang="en-US" sz="4000" b="1" dirty="0">
                <a:solidFill>
                  <a:srgbClr val="1D7A4D"/>
                </a:solidFill>
                <a:latin typeface="Cambria" pitchFamily="34" charset="0"/>
                <a:ea typeface="Cambria" pitchFamily="34" charset="-122"/>
                <a:cs typeface="Cambria" pitchFamily="34" charset="-120"/>
              </a:rPr>
              <a:t>4.8 hrs</a:t>
            </a:r>
            <a:endParaRPr lang="en-US" sz="4000" dirty="0"/>
          </a:p>
        </p:txBody>
      </p:sp>
      <p:sp>
        <p:nvSpPr>
          <p:cNvPr id="10" name="Text 7"/>
          <p:cNvSpPr/>
          <p:nvPr/>
        </p:nvSpPr>
        <p:spPr>
          <a:xfrm>
            <a:off x="749808" y="5888736"/>
            <a:ext cx="2233422" cy="256032"/>
          </a:xfrm>
          <a:prstGeom prst="rect">
            <a:avLst/>
          </a:prstGeom>
          <a:noFill/>
          <a:ln/>
        </p:spPr>
        <p:txBody>
          <a:bodyPr wrap="square" lIns="0" tIns="0" rIns="0" bIns="0" rtlCol="0" anchor="ctr"/>
          <a:lstStyle/>
          <a:p>
            <a:pPr indent="0" marL="0">
              <a:buNone/>
            </a:pPr>
            <a:r>
              <a:rPr lang="en-US" sz="1200" b="1" dirty="0">
                <a:solidFill>
                  <a:srgbClr val="131922"/>
                </a:solidFill>
                <a:latin typeface="Calibri" pitchFamily="34" charset="0"/>
                <a:ea typeface="Calibri" pitchFamily="34" charset="-122"/>
                <a:cs typeface="Calibri" pitchFamily="34" charset="-120"/>
              </a:rPr>
              <a:t>Saved per visit</a:t>
            </a:r>
            <a:endParaRPr lang="en-US" sz="1200" dirty="0"/>
          </a:p>
        </p:txBody>
      </p:sp>
      <p:sp>
        <p:nvSpPr>
          <p:cNvPr id="11" name="Text 8"/>
          <p:cNvSpPr/>
          <p:nvPr/>
        </p:nvSpPr>
        <p:spPr>
          <a:xfrm>
            <a:off x="749808" y="6126480"/>
            <a:ext cx="2233422" cy="310896"/>
          </a:xfrm>
          <a:prstGeom prst="rect">
            <a:avLst/>
          </a:prstGeom>
          <a:noFill/>
          <a:ln/>
        </p:spPr>
        <p:txBody>
          <a:bodyPr wrap="square" lIns="0" tIns="0" rIns="0" bIns="0" rtlCol="0" anchor="t"/>
          <a:lstStyle/>
          <a:p>
            <a:pPr indent="0" marL="0">
              <a:buNone/>
            </a:pPr>
            <a:r>
              <a:rPr lang="en-US" sz="1000" dirty="0">
                <a:solidFill>
                  <a:srgbClr val="5D6773"/>
                </a:solidFill>
                <a:latin typeface="Calibri" pitchFamily="34" charset="0"/>
                <a:ea typeface="Calibri" pitchFamily="34" charset="-122"/>
                <a:cs typeface="Calibri" pitchFamily="34" charset="-120"/>
              </a:rPr>
              <a:t>on the estimates above</a:t>
            </a:r>
            <a:endParaRPr lang="en-US" sz="1000" dirty="0"/>
          </a:p>
        </p:txBody>
      </p:sp>
      <p:sp>
        <p:nvSpPr>
          <p:cNvPr id="12" name="Shape 9"/>
          <p:cNvSpPr/>
          <p:nvPr/>
        </p:nvSpPr>
        <p:spPr>
          <a:xfrm>
            <a:off x="3385566" y="5029200"/>
            <a:ext cx="2599182" cy="1481328"/>
          </a:xfrm>
          <a:prstGeom prst="roundRect">
            <a:avLst>
              <a:gd name="adj" fmla="val 370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0"/>
          <p:cNvSpPr/>
          <p:nvPr/>
        </p:nvSpPr>
        <p:spPr>
          <a:xfrm>
            <a:off x="3568446" y="5175504"/>
            <a:ext cx="2233422" cy="713232"/>
          </a:xfrm>
          <a:prstGeom prst="rect">
            <a:avLst/>
          </a:prstGeom>
          <a:noFill/>
          <a:ln/>
        </p:spPr>
        <p:txBody>
          <a:bodyPr wrap="square" lIns="0" tIns="0" rIns="0" bIns="0" rtlCol="0" anchor="ctr"/>
          <a:lstStyle/>
          <a:p>
            <a:pPr indent="0" marL="0">
              <a:buNone/>
            </a:pPr>
            <a:r>
              <a:rPr lang="en-US" sz="4000" b="1" dirty="0">
                <a:solidFill>
                  <a:srgbClr val="1D7A4D"/>
                </a:solidFill>
                <a:latin typeface="Cambria" pitchFamily="34" charset="0"/>
                <a:ea typeface="Cambria" pitchFamily="34" charset="-122"/>
                <a:cs typeface="Cambria" pitchFamily="34" charset="-120"/>
              </a:rPr>
              <a:t>≈ 0.5 FTE</a:t>
            </a:r>
            <a:endParaRPr lang="en-US" sz="4000" dirty="0"/>
          </a:p>
        </p:txBody>
      </p:sp>
      <p:sp>
        <p:nvSpPr>
          <p:cNvPr id="14" name="Text 11"/>
          <p:cNvSpPr/>
          <p:nvPr/>
        </p:nvSpPr>
        <p:spPr>
          <a:xfrm>
            <a:off x="3568446" y="5888736"/>
            <a:ext cx="2233422" cy="256032"/>
          </a:xfrm>
          <a:prstGeom prst="rect">
            <a:avLst/>
          </a:prstGeom>
          <a:noFill/>
          <a:ln/>
        </p:spPr>
        <p:txBody>
          <a:bodyPr wrap="square" lIns="0" tIns="0" rIns="0" bIns="0" rtlCol="0" anchor="ctr"/>
          <a:lstStyle/>
          <a:p>
            <a:pPr indent="0" marL="0">
              <a:buNone/>
            </a:pPr>
            <a:r>
              <a:rPr lang="en-US" sz="1200" b="1" dirty="0">
                <a:solidFill>
                  <a:srgbClr val="131922"/>
                </a:solidFill>
                <a:latin typeface="Calibri" pitchFamily="34" charset="0"/>
                <a:ea typeface="Calibri" pitchFamily="34" charset="-122"/>
                <a:cs typeface="Calibri" pitchFamily="34" charset="-120"/>
              </a:rPr>
              <a:t>At 240 visits a year</a:t>
            </a:r>
            <a:endParaRPr lang="en-US" sz="1200" dirty="0"/>
          </a:p>
        </p:txBody>
      </p:sp>
      <p:sp>
        <p:nvSpPr>
          <p:cNvPr id="15" name="Text 12"/>
          <p:cNvSpPr/>
          <p:nvPr/>
        </p:nvSpPr>
        <p:spPr>
          <a:xfrm>
            <a:off x="3568446" y="6126480"/>
            <a:ext cx="2233422" cy="310896"/>
          </a:xfrm>
          <a:prstGeom prst="rect">
            <a:avLst/>
          </a:prstGeom>
          <a:noFill/>
          <a:ln/>
        </p:spPr>
        <p:txBody>
          <a:bodyPr wrap="square" lIns="0" tIns="0" rIns="0" bIns="0" rtlCol="0" anchor="t"/>
          <a:lstStyle/>
          <a:p>
            <a:pPr indent="0" marL="0">
              <a:buNone/>
            </a:pPr>
            <a:r>
              <a:rPr lang="en-US" sz="1000" dirty="0">
                <a:solidFill>
                  <a:srgbClr val="5D6773"/>
                </a:solidFill>
                <a:latin typeface="Calibri" pitchFamily="34" charset="0"/>
                <a:ea typeface="Calibri" pitchFamily="34" charset="-122"/>
                <a:cs typeface="Calibri" pitchFamily="34" charset="-120"/>
              </a:rPr>
              <a:t>1,150 hours returned to the team</a:t>
            </a:r>
            <a:endParaRPr lang="en-US" sz="1000" dirty="0"/>
          </a:p>
        </p:txBody>
      </p:sp>
      <p:sp>
        <p:nvSpPr>
          <p:cNvPr id="16" name="Shape 13"/>
          <p:cNvSpPr/>
          <p:nvPr/>
        </p:nvSpPr>
        <p:spPr>
          <a:xfrm>
            <a:off x="6204204" y="5029200"/>
            <a:ext cx="2599182" cy="1481328"/>
          </a:xfrm>
          <a:prstGeom prst="roundRect">
            <a:avLst>
              <a:gd name="adj" fmla="val 370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7" name="Text 14"/>
          <p:cNvSpPr/>
          <p:nvPr/>
        </p:nvSpPr>
        <p:spPr>
          <a:xfrm>
            <a:off x="6387084" y="5175504"/>
            <a:ext cx="2233422" cy="713232"/>
          </a:xfrm>
          <a:prstGeom prst="rect">
            <a:avLst/>
          </a:prstGeom>
          <a:noFill/>
          <a:ln/>
        </p:spPr>
        <p:txBody>
          <a:bodyPr wrap="square" lIns="0" tIns="0" rIns="0" bIns="0" rtlCol="0" anchor="ctr"/>
          <a:lstStyle/>
          <a:p>
            <a:pPr indent="0" marL="0">
              <a:buNone/>
            </a:pPr>
            <a:r>
              <a:rPr lang="en-US" sz="4000" b="1" dirty="0">
                <a:solidFill>
                  <a:srgbClr val="0053A1"/>
                </a:solidFill>
                <a:latin typeface="Cambria" pitchFamily="34" charset="0"/>
                <a:ea typeface="Cambria" pitchFamily="34" charset="-122"/>
                <a:cs typeface="Cambria" pitchFamily="34" charset="-120"/>
              </a:rPr>
              <a:t>Zero</a:t>
            </a:r>
            <a:endParaRPr lang="en-US" sz="4000" dirty="0"/>
          </a:p>
        </p:txBody>
      </p:sp>
      <p:sp>
        <p:nvSpPr>
          <p:cNvPr id="18" name="Text 15"/>
          <p:cNvSpPr/>
          <p:nvPr/>
        </p:nvSpPr>
        <p:spPr>
          <a:xfrm>
            <a:off x="6387084" y="5888736"/>
            <a:ext cx="2233422" cy="256032"/>
          </a:xfrm>
          <a:prstGeom prst="rect">
            <a:avLst/>
          </a:prstGeom>
          <a:noFill/>
          <a:ln/>
        </p:spPr>
        <p:txBody>
          <a:bodyPr wrap="square" lIns="0" tIns="0" rIns="0" bIns="0" rtlCol="0" anchor="ctr"/>
          <a:lstStyle/>
          <a:p>
            <a:pPr indent="0" marL="0">
              <a:buNone/>
            </a:pPr>
            <a:r>
              <a:rPr lang="en-US" sz="1200" b="1" dirty="0">
                <a:solidFill>
                  <a:srgbClr val="131922"/>
                </a:solidFill>
                <a:latin typeface="Calibri" pitchFamily="34" charset="0"/>
                <a:ea typeface="Calibri" pitchFamily="34" charset="-122"/>
                <a:cs typeface="Calibri" pitchFamily="34" charset="-120"/>
              </a:rPr>
              <a:t>Licence cost</a:t>
            </a:r>
            <a:endParaRPr lang="en-US" sz="1200" dirty="0"/>
          </a:p>
        </p:txBody>
      </p:sp>
      <p:sp>
        <p:nvSpPr>
          <p:cNvPr id="19" name="Text 16"/>
          <p:cNvSpPr/>
          <p:nvPr/>
        </p:nvSpPr>
        <p:spPr>
          <a:xfrm>
            <a:off x="6387084" y="6126480"/>
            <a:ext cx="2233422" cy="310896"/>
          </a:xfrm>
          <a:prstGeom prst="rect">
            <a:avLst/>
          </a:prstGeom>
          <a:noFill/>
          <a:ln/>
        </p:spPr>
        <p:txBody>
          <a:bodyPr wrap="square" lIns="0" tIns="0" rIns="0" bIns="0" rtlCol="0" anchor="t"/>
          <a:lstStyle/>
          <a:p>
            <a:pPr indent="0" marL="0">
              <a:buNone/>
            </a:pPr>
            <a:r>
              <a:rPr lang="en-US" sz="1000" dirty="0">
                <a:solidFill>
                  <a:srgbClr val="5D6773"/>
                </a:solidFill>
                <a:latin typeface="Calibri" pitchFamily="34" charset="0"/>
                <a:ea typeface="Calibri" pitchFamily="34" charset="-122"/>
                <a:cs typeface="Calibri" pitchFamily="34" charset="-120"/>
              </a:rPr>
              <a:t>no per-seat or per-site fee</a:t>
            </a:r>
            <a:endParaRPr lang="en-US" sz="1000" dirty="0"/>
          </a:p>
        </p:txBody>
      </p:sp>
      <p:sp>
        <p:nvSpPr>
          <p:cNvPr id="20" name="Shape 17"/>
          <p:cNvSpPr/>
          <p:nvPr/>
        </p:nvSpPr>
        <p:spPr>
          <a:xfrm>
            <a:off x="9022842" y="5029200"/>
            <a:ext cx="2599182" cy="1481328"/>
          </a:xfrm>
          <a:prstGeom prst="roundRect">
            <a:avLst>
              <a:gd name="adj" fmla="val 370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21" name="Text 18"/>
          <p:cNvSpPr/>
          <p:nvPr/>
        </p:nvSpPr>
        <p:spPr>
          <a:xfrm>
            <a:off x="9205722" y="5175504"/>
            <a:ext cx="2233422" cy="713232"/>
          </a:xfrm>
          <a:prstGeom prst="rect">
            <a:avLst/>
          </a:prstGeom>
          <a:noFill/>
          <a:ln/>
        </p:spPr>
        <p:txBody>
          <a:bodyPr wrap="square" lIns="0" tIns="0" rIns="0" bIns="0" rtlCol="0" anchor="ctr"/>
          <a:lstStyle/>
          <a:p>
            <a:pPr indent="0" marL="0">
              <a:buNone/>
            </a:pPr>
            <a:r>
              <a:rPr lang="en-US" sz="4000" b="1" dirty="0">
                <a:solidFill>
                  <a:srgbClr val="0053A1"/>
                </a:solidFill>
                <a:latin typeface="Cambria" pitchFamily="34" charset="0"/>
                <a:ea typeface="Cambria" pitchFamily="34" charset="-122"/>
                <a:cs typeface="Cambria" pitchFamily="34" charset="-120"/>
              </a:rPr>
              <a:t>Same day</a:t>
            </a:r>
            <a:endParaRPr lang="en-US" sz="4000" dirty="0"/>
          </a:p>
        </p:txBody>
      </p:sp>
      <p:sp>
        <p:nvSpPr>
          <p:cNvPr id="22" name="Text 19"/>
          <p:cNvSpPr/>
          <p:nvPr/>
        </p:nvSpPr>
        <p:spPr>
          <a:xfrm>
            <a:off x="9205722" y="5888736"/>
            <a:ext cx="2233422" cy="256032"/>
          </a:xfrm>
          <a:prstGeom prst="rect">
            <a:avLst/>
          </a:prstGeom>
          <a:noFill/>
          <a:ln/>
        </p:spPr>
        <p:txBody>
          <a:bodyPr wrap="square" lIns="0" tIns="0" rIns="0" bIns="0" rtlCol="0" anchor="ctr"/>
          <a:lstStyle/>
          <a:p>
            <a:pPr indent="0" marL="0">
              <a:buNone/>
            </a:pPr>
            <a:r>
              <a:rPr lang="en-US" sz="1200" b="1" dirty="0">
                <a:solidFill>
                  <a:srgbClr val="131922"/>
                </a:solidFill>
                <a:latin typeface="Calibri" pitchFamily="34" charset="0"/>
                <a:ea typeface="Calibri" pitchFamily="34" charset="-122"/>
                <a:cs typeface="Calibri" pitchFamily="34" charset="-120"/>
              </a:rPr>
              <a:t>Report turnaround</a:t>
            </a:r>
            <a:endParaRPr lang="en-US" sz="1200" dirty="0"/>
          </a:p>
        </p:txBody>
      </p:sp>
      <p:sp>
        <p:nvSpPr>
          <p:cNvPr id="23" name="Text 20"/>
          <p:cNvSpPr/>
          <p:nvPr/>
        </p:nvSpPr>
        <p:spPr>
          <a:xfrm>
            <a:off x="9205722" y="6126480"/>
            <a:ext cx="2233422" cy="310896"/>
          </a:xfrm>
          <a:prstGeom prst="rect">
            <a:avLst/>
          </a:prstGeom>
          <a:noFill/>
          <a:ln/>
        </p:spPr>
        <p:txBody>
          <a:bodyPr wrap="square" lIns="0" tIns="0" rIns="0" bIns="0" rtlCol="0" anchor="t"/>
          <a:lstStyle/>
          <a:p>
            <a:pPr indent="0" marL="0">
              <a:buNone/>
            </a:pPr>
            <a:r>
              <a:rPr lang="en-US" sz="1000" dirty="0">
                <a:solidFill>
                  <a:srgbClr val="5D6773"/>
                </a:solidFill>
                <a:latin typeface="Calibri" pitchFamily="34" charset="0"/>
                <a:ea typeface="Calibri" pitchFamily="34" charset="-122"/>
                <a:cs typeface="Calibri" pitchFamily="34" charset="-120"/>
              </a:rPr>
              <a:t>written before leaving the location</a:t>
            </a:r>
            <a:endParaRPr lang="en-US" sz="1000" dirty="0"/>
          </a:p>
        </p:txBody>
      </p:sp>
      <p:sp>
        <p:nvSpPr>
          <p:cNvPr id="25" name="Text 21"/>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6" name="Text 22"/>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115568"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115568"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VALUE</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What the time is spent on instead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Removing transcription does not shrink the job. It moves the hours to the part only a specialist can do.</a:t>
            </a:r>
            <a:endParaRPr lang="en-US" sz="1350" dirty="0"/>
          </a:p>
        </p:txBody>
      </p:sp>
      <p:sp>
        <p:nvSpPr>
          <p:cNvPr id="6" name="Shape 4"/>
          <p:cNvSpPr/>
          <p:nvPr/>
        </p:nvSpPr>
        <p:spPr>
          <a:xfrm>
            <a:off x="566928" y="2011680"/>
            <a:ext cx="5372100" cy="1700784"/>
          </a:xfrm>
          <a:prstGeom prst="roundRect">
            <a:avLst>
              <a:gd name="adj" fmla="val 322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Shape 5"/>
          <p:cNvSpPr/>
          <p:nvPr/>
        </p:nvSpPr>
        <p:spPr>
          <a:xfrm>
            <a:off x="822960" y="2267712"/>
            <a:ext cx="457200" cy="457200"/>
          </a:xfrm>
          <a:prstGeom prst="ellipse">
            <a:avLst/>
          </a:prstGeom>
          <a:solidFill>
            <a:srgbClr val="0053A1"/>
          </a:solidFill>
          <a:ln/>
        </p:spPr>
      </p:sp>
      <p:sp>
        <p:nvSpPr>
          <p:cNvPr id="8" name="Text 6"/>
          <p:cNvSpPr/>
          <p:nvPr/>
        </p:nvSpPr>
        <p:spPr>
          <a:xfrm>
            <a:off x="822960" y="22677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435608" y="2249424"/>
            <a:ext cx="4229100" cy="45720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More locations reached</a:t>
            </a:r>
            <a:endParaRPr lang="en-US" sz="1700" dirty="0"/>
          </a:p>
        </p:txBody>
      </p:sp>
      <p:sp>
        <p:nvSpPr>
          <p:cNvPr id="10" name="Text 8"/>
          <p:cNvSpPr/>
          <p:nvPr/>
        </p:nvSpPr>
        <p:spPr>
          <a:xfrm>
            <a:off x="841248" y="2816352"/>
            <a:ext cx="4823460" cy="822960"/>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The binding constraint on coverage is specialist hours. Four hours back per visit is roughly one additional site visited per specialist per week.</a:t>
            </a:r>
            <a:endParaRPr lang="en-US" sz="1200" dirty="0"/>
          </a:p>
        </p:txBody>
      </p:sp>
      <p:sp>
        <p:nvSpPr>
          <p:cNvPr id="11" name="Shape 9"/>
          <p:cNvSpPr/>
          <p:nvPr/>
        </p:nvSpPr>
        <p:spPr>
          <a:xfrm>
            <a:off x="6249924" y="2011680"/>
            <a:ext cx="5372100" cy="1700784"/>
          </a:xfrm>
          <a:prstGeom prst="roundRect">
            <a:avLst>
              <a:gd name="adj" fmla="val 322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2" name="Shape 10"/>
          <p:cNvSpPr/>
          <p:nvPr/>
        </p:nvSpPr>
        <p:spPr>
          <a:xfrm>
            <a:off x="6505956" y="2267712"/>
            <a:ext cx="457200" cy="457200"/>
          </a:xfrm>
          <a:prstGeom prst="ellipse">
            <a:avLst/>
          </a:prstGeom>
          <a:solidFill>
            <a:srgbClr val="0053A1"/>
          </a:solidFill>
          <a:ln/>
        </p:spPr>
      </p:sp>
      <p:sp>
        <p:nvSpPr>
          <p:cNvPr id="13" name="Text 11"/>
          <p:cNvSpPr/>
          <p:nvPr/>
        </p:nvSpPr>
        <p:spPr>
          <a:xfrm>
            <a:off x="6505956" y="22677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7118604" y="2249424"/>
            <a:ext cx="4229100" cy="45720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Deeper on-site work</a:t>
            </a:r>
            <a:endParaRPr lang="en-US" sz="1700" dirty="0"/>
          </a:p>
        </p:txBody>
      </p:sp>
      <p:sp>
        <p:nvSpPr>
          <p:cNvPr id="15" name="Text 13"/>
          <p:cNvSpPr/>
          <p:nvPr/>
        </p:nvSpPr>
        <p:spPr>
          <a:xfrm>
            <a:off x="6524244" y="2816352"/>
            <a:ext cx="4823460" cy="822960"/>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Time in the building goes to observation, coaching and tracer practice rather than to writing the visit up afterwards.</a:t>
            </a:r>
            <a:endParaRPr lang="en-US" sz="1200" dirty="0"/>
          </a:p>
        </p:txBody>
      </p:sp>
      <p:sp>
        <p:nvSpPr>
          <p:cNvPr id="16" name="Shape 14"/>
          <p:cNvSpPr/>
          <p:nvPr/>
        </p:nvSpPr>
        <p:spPr>
          <a:xfrm>
            <a:off x="566928" y="3931920"/>
            <a:ext cx="5372100" cy="1700784"/>
          </a:xfrm>
          <a:prstGeom prst="roundRect">
            <a:avLst>
              <a:gd name="adj" fmla="val 322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7" name="Shape 15"/>
          <p:cNvSpPr/>
          <p:nvPr/>
        </p:nvSpPr>
        <p:spPr>
          <a:xfrm>
            <a:off x="822960" y="4187952"/>
            <a:ext cx="457200" cy="457200"/>
          </a:xfrm>
          <a:prstGeom prst="ellipse">
            <a:avLst/>
          </a:prstGeom>
          <a:solidFill>
            <a:srgbClr val="0053A1"/>
          </a:solidFill>
          <a:ln/>
        </p:spPr>
      </p:sp>
      <p:sp>
        <p:nvSpPr>
          <p:cNvPr id="18" name="Text 16"/>
          <p:cNvSpPr/>
          <p:nvPr/>
        </p:nvSpPr>
        <p:spPr>
          <a:xfrm>
            <a:off x="822960" y="4187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435608" y="4169664"/>
            <a:ext cx="4229100" cy="45720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Corrective actions actually closed</a:t>
            </a:r>
            <a:endParaRPr lang="en-US" sz="1700" dirty="0"/>
          </a:p>
        </p:txBody>
      </p:sp>
      <p:sp>
        <p:nvSpPr>
          <p:cNvPr id="20" name="Text 18"/>
          <p:cNvSpPr/>
          <p:nvPr/>
        </p:nvSpPr>
        <p:spPr>
          <a:xfrm>
            <a:off x="841248" y="4736592"/>
            <a:ext cx="4823460" cy="822960"/>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The follow-up dashboard makes chasing cheap, so items close before the next visit instead of reappearing on it.</a:t>
            </a:r>
            <a:endParaRPr lang="en-US" sz="1200" dirty="0"/>
          </a:p>
        </p:txBody>
      </p:sp>
      <p:sp>
        <p:nvSpPr>
          <p:cNvPr id="21" name="Shape 19"/>
          <p:cNvSpPr/>
          <p:nvPr/>
        </p:nvSpPr>
        <p:spPr>
          <a:xfrm>
            <a:off x="6249924" y="3931920"/>
            <a:ext cx="5372100" cy="1700784"/>
          </a:xfrm>
          <a:prstGeom prst="roundRect">
            <a:avLst>
              <a:gd name="adj" fmla="val 3226"/>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22" name="Shape 20"/>
          <p:cNvSpPr/>
          <p:nvPr/>
        </p:nvSpPr>
        <p:spPr>
          <a:xfrm>
            <a:off x="6505956" y="4187952"/>
            <a:ext cx="457200" cy="457200"/>
          </a:xfrm>
          <a:prstGeom prst="ellipse">
            <a:avLst/>
          </a:prstGeom>
          <a:solidFill>
            <a:srgbClr val="0053A1"/>
          </a:solidFill>
          <a:ln/>
        </p:spPr>
      </p:sp>
      <p:sp>
        <p:nvSpPr>
          <p:cNvPr id="23" name="Text 21"/>
          <p:cNvSpPr/>
          <p:nvPr/>
        </p:nvSpPr>
        <p:spPr>
          <a:xfrm>
            <a:off x="6505956" y="41879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118604" y="4169664"/>
            <a:ext cx="4229100" cy="45720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Preparation ahead of a real survey</a:t>
            </a:r>
            <a:endParaRPr lang="en-US" sz="1700" dirty="0"/>
          </a:p>
        </p:txBody>
      </p:sp>
      <p:sp>
        <p:nvSpPr>
          <p:cNvPr id="25" name="Text 23"/>
          <p:cNvSpPr/>
          <p:nvPr/>
        </p:nvSpPr>
        <p:spPr>
          <a:xfrm>
            <a:off x="6524244" y="4736592"/>
            <a:ext cx="4823460" cy="822960"/>
          </a:xfrm>
          <a:prstGeom prst="rect">
            <a:avLst/>
          </a:prstGeom>
          <a:noFill/>
          <a:ln/>
        </p:spPr>
        <p:txBody>
          <a:bodyPr wrap="square" lIns="0" tIns="0" rIns="0" bIns="0" rtlCol="0" anchor="t"/>
          <a:lstStyle/>
          <a:p>
            <a:pPr indent="0" marL="0">
              <a:lnSpc>
                <a:spcPts val="1600"/>
              </a:lnSpc>
              <a:buNone/>
            </a:pPr>
            <a:r>
              <a:rPr lang="en-US" sz="1200" dirty="0">
                <a:solidFill>
                  <a:srgbClr val="5D6773"/>
                </a:solidFill>
                <a:latin typeface="Calibri" pitchFamily="34" charset="0"/>
                <a:ea typeface="Calibri" pitchFamily="34" charset="-122"/>
                <a:cs typeface="Calibri" pitchFamily="34" charset="-120"/>
              </a:rPr>
              <a:t>Recurring findings and self-audit mismatches identify the sites that need attention before a surveyor arrives, not after.</a:t>
            </a:r>
            <a:endParaRPr lang="en-US" sz="1200" dirty="0"/>
          </a:p>
        </p:txBody>
      </p:sp>
      <p:sp>
        <p:nvSpPr>
          <p:cNvPr id="26" name="Text 24"/>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7" name="Text 25"/>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28600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28600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ALSO INCLUDED</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Team Planner — the department's other spreadsheet, retired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Whereabouts, PTO, recurring duties and visit planning, migrated off the shared workbook.</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Who is out today, who is on site, and where — for the whole team</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Recurring duties by cadence: weekly, monthly, quarterly, semi-annual and annual</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 month grid that prints, replacing the tab-per-person spreadsheet</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Same sign-in, same admin allowlist, same audit trail as the rest of the app</a:t>
            </a:r>
            <a:endParaRPr lang="en-US" sz="1300" dirty="0"/>
          </a:p>
        </p:txBody>
      </p:sp>
      <p:sp>
        <p:nvSpPr>
          <p:cNvPr id="7" name="Shape 5"/>
          <p:cNvSpPr/>
          <p:nvPr/>
        </p:nvSpPr>
        <p:spPr>
          <a:xfrm>
            <a:off x="4919739" y="1810512"/>
            <a:ext cx="6400266" cy="4069080"/>
          </a:xfrm>
          <a:prstGeom prst="roundRect">
            <a:avLst>
              <a:gd name="adj" fmla="val 899"/>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23-planner-today.jpg">    </p:cNvPr>
          <p:cNvPicPr>
            <a:picLocks noChangeAspect="1"/>
          </p:cNvPicPr>
          <p:nvPr/>
        </p:nvPicPr>
        <p:blipFill>
          <a:blip r:embed="rId1"/>
          <a:stretch>
            <a:fillRect/>
          </a:stretch>
        </p:blipFill>
        <p:spPr>
          <a:xfrm>
            <a:off x="4983747" y="1874520"/>
            <a:ext cx="6272250" cy="3941064"/>
          </a:xfrm>
          <a:prstGeom prst="rect">
            <a:avLst/>
          </a:prstGeom>
        </p:spPr>
      </p:pic>
      <p:sp>
        <p:nvSpPr>
          <p:cNvPr id="9" name="Text 6"/>
          <p:cNvSpPr/>
          <p:nvPr/>
        </p:nvSpPr>
        <p:spPr>
          <a:xfrm>
            <a:off x="4617720" y="5943600"/>
            <a:ext cx="7004304"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Team Planner — today's whereabouts and the recurring duties in play</a:t>
            </a:r>
            <a:endParaRPr lang="en-US" sz="1000" dirty="0"/>
          </a:p>
        </p:txBody>
      </p:sp>
      <p:sp>
        <p:nvSpPr>
          <p:cNvPr id="11"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2"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2432304"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2432304"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PRACTICALITIES</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Access, data and continuity</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questions that get asked when a tool moves from one person to the department.</a:t>
            </a:r>
            <a:endParaRPr lang="en-US" sz="1350" dirty="0"/>
          </a:p>
        </p:txBody>
      </p:sp>
      <p:sp>
        <p:nvSpPr>
          <p:cNvPr id="6" name="Shape 4"/>
          <p:cNvSpPr/>
          <p:nvPr/>
        </p:nvSpPr>
        <p:spPr>
          <a:xfrm>
            <a:off x="566928" y="1965960"/>
            <a:ext cx="3532632" cy="3108960"/>
          </a:xfrm>
          <a:prstGeom prst="roundRect">
            <a:avLst>
              <a:gd name="adj" fmla="val 176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7" name="Text 5"/>
          <p:cNvSpPr/>
          <p:nvPr/>
        </p:nvSpPr>
        <p:spPr>
          <a:xfrm>
            <a:off x="804672" y="2157984"/>
            <a:ext cx="3057144" cy="384048"/>
          </a:xfrm>
          <a:prstGeom prst="rect">
            <a:avLst/>
          </a:prstGeom>
          <a:noFill/>
          <a:ln/>
        </p:spPr>
        <p:txBody>
          <a:bodyPr wrap="square" lIns="0" tIns="0" rIns="0" bIns="0" rtlCol="0" anchor="ctr"/>
          <a:lstStyle/>
          <a:p>
            <a:pPr indent="0" marL="0">
              <a:buNone/>
            </a:pPr>
            <a:r>
              <a:rPr lang="en-US" sz="1800" b="1" dirty="0">
                <a:solidFill>
                  <a:srgbClr val="0053A1"/>
                </a:solidFill>
                <a:latin typeface="Cambria" pitchFamily="34" charset="0"/>
                <a:ea typeface="Cambria" pitchFamily="34" charset="-122"/>
                <a:cs typeface="Cambria" pitchFamily="34" charset="-120"/>
              </a:rPr>
              <a:t>Who can get in</a:t>
            </a:r>
            <a:endParaRPr lang="en-US" sz="1800" dirty="0"/>
          </a:p>
        </p:txBody>
      </p:sp>
      <p:sp>
        <p:nvSpPr>
          <p:cNvPr id="8" name="Text 6"/>
          <p:cNvSpPr/>
          <p:nvPr/>
        </p:nvSpPr>
        <p:spPr>
          <a:xfrm>
            <a:off x="804672" y="2651760"/>
            <a:ext cx="30571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Named accounts only — no shared logins, no anonymous access</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The specialist's own name is stamped on every report and every trend record</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Roster and policy-date editing limited to named admins, enforced server-side</a:t>
            </a:r>
            <a:endParaRPr lang="en-US" sz="1200" dirty="0"/>
          </a:p>
        </p:txBody>
      </p:sp>
      <p:sp>
        <p:nvSpPr>
          <p:cNvPr id="9" name="Shape 7"/>
          <p:cNvSpPr/>
          <p:nvPr/>
        </p:nvSpPr>
        <p:spPr>
          <a:xfrm>
            <a:off x="4328160" y="1965960"/>
            <a:ext cx="3532632" cy="3108960"/>
          </a:xfrm>
          <a:prstGeom prst="roundRect">
            <a:avLst>
              <a:gd name="adj" fmla="val 176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0" name="Text 8"/>
          <p:cNvSpPr/>
          <p:nvPr/>
        </p:nvSpPr>
        <p:spPr>
          <a:xfrm>
            <a:off x="4565904" y="2157984"/>
            <a:ext cx="3057144" cy="384048"/>
          </a:xfrm>
          <a:prstGeom prst="rect">
            <a:avLst/>
          </a:prstGeom>
          <a:noFill/>
          <a:ln/>
        </p:spPr>
        <p:txBody>
          <a:bodyPr wrap="square" lIns="0" tIns="0" rIns="0" bIns="0" rtlCol="0" anchor="ctr"/>
          <a:lstStyle/>
          <a:p>
            <a:pPr indent="0" marL="0">
              <a:buNone/>
            </a:pPr>
            <a:r>
              <a:rPr lang="en-US" sz="1800" b="1" dirty="0">
                <a:solidFill>
                  <a:srgbClr val="0053A1"/>
                </a:solidFill>
                <a:latin typeface="Cambria" pitchFamily="34" charset="0"/>
                <a:ea typeface="Cambria" pitchFamily="34" charset="-122"/>
                <a:cs typeface="Cambria" pitchFamily="34" charset="-120"/>
              </a:rPr>
              <a:t>What is stored</a:t>
            </a:r>
            <a:endParaRPr lang="en-US" sz="1800" dirty="0"/>
          </a:p>
        </p:txBody>
      </p:sp>
      <p:sp>
        <p:nvSpPr>
          <p:cNvPr id="11" name="Text 9"/>
          <p:cNvSpPr/>
          <p:nvPr/>
        </p:nvSpPr>
        <p:spPr>
          <a:xfrm>
            <a:off x="4565904" y="2651760"/>
            <a:ext cx="30571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Findings, notes and visit metadata — no patient records</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Patient Global ID and Rx are entered per visit for the specialist's own reference</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Uploaded OP 541 files are read in the browser and never stored</a:t>
            </a:r>
            <a:endParaRPr lang="en-US" sz="1200" dirty="0"/>
          </a:p>
        </p:txBody>
      </p:sp>
      <p:sp>
        <p:nvSpPr>
          <p:cNvPr id="12" name="Shape 10"/>
          <p:cNvSpPr/>
          <p:nvPr/>
        </p:nvSpPr>
        <p:spPr>
          <a:xfrm>
            <a:off x="8089392" y="1965960"/>
            <a:ext cx="3532632" cy="3108960"/>
          </a:xfrm>
          <a:prstGeom prst="roundRect">
            <a:avLst>
              <a:gd name="adj" fmla="val 1765"/>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3" name="Text 11"/>
          <p:cNvSpPr/>
          <p:nvPr/>
        </p:nvSpPr>
        <p:spPr>
          <a:xfrm>
            <a:off x="8327136" y="2157984"/>
            <a:ext cx="3057144" cy="384048"/>
          </a:xfrm>
          <a:prstGeom prst="rect">
            <a:avLst/>
          </a:prstGeom>
          <a:noFill/>
          <a:ln/>
        </p:spPr>
        <p:txBody>
          <a:bodyPr wrap="square" lIns="0" tIns="0" rIns="0" bIns="0" rtlCol="0" anchor="ctr"/>
          <a:lstStyle/>
          <a:p>
            <a:pPr indent="0" marL="0">
              <a:buNone/>
            </a:pPr>
            <a:r>
              <a:rPr lang="en-US" sz="1800" b="1" dirty="0">
                <a:solidFill>
                  <a:srgbClr val="0053A1"/>
                </a:solidFill>
                <a:latin typeface="Cambria" pitchFamily="34" charset="0"/>
                <a:ea typeface="Cambria" pitchFamily="34" charset="-122"/>
                <a:cs typeface="Cambria" pitchFamily="34" charset="-120"/>
              </a:rPr>
              <a:t>If something fails</a:t>
            </a:r>
            <a:endParaRPr lang="en-US" sz="1800" dirty="0"/>
          </a:p>
        </p:txBody>
      </p:sp>
      <p:sp>
        <p:nvSpPr>
          <p:cNvPr id="14" name="Text 12"/>
          <p:cNvSpPr/>
          <p:nvPr/>
        </p:nvSpPr>
        <p:spPr>
          <a:xfrm>
            <a:off x="8327136" y="2651760"/>
            <a:ext cx="3057144"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Works with no connection; syncs when signal returns</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Every PDF export writes an automatic data backup file alongside it</a:t>
            </a:r>
            <a:endParaRPr lang="en-US" sz="1200" dirty="0"/>
          </a:p>
          <a:p>
            <a:pPr marL="342900" indent="-342900">
              <a:lnSpc>
                <a:spcPts val="1600"/>
              </a:lnSpc>
              <a:spcAft>
                <a:spcPts val="800"/>
              </a:spcAft>
              <a:buSzPct val="100000"/>
              <a:buChar char="▪"/>
            </a:pPr>
            <a:r>
              <a:rPr lang="en-US" sz="1200" dirty="0">
                <a:solidFill>
                  <a:srgbClr val="131922"/>
                </a:solidFill>
                <a:latin typeface="Calibri" pitchFamily="34" charset="0"/>
                <a:ea typeface="Calibri" pitchFamily="34" charset="-122"/>
                <a:cs typeface="Calibri" pitchFamily="34" charset="-120"/>
              </a:rPr>
              <a:t>The location roster keeps a standing restorable backup</a:t>
            </a:r>
            <a:endParaRPr lang="en-US" sz="1200" dirty="0"/>
          </a:p>
        </p:txBody>
      </p:sp>
      <p:sp>
        <p:nvSpPr>
          <p:cNvPr id="15" name="Shape 13"/>
          <p:cNvSpPr/>
          <p:nvPr/>
        </p:nvSpPr>
        <p:spPr>
          <a:xfrm>
            <a:off x="566928" y="5257800"/>
            <a:ext cx="11055096" cy="960120"/>
          </a:xfrm>
          <a:prstGeom prst="roundRect">
            <a:avLst>
              <a:gd name="adj" fmla="val 5714"/>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sp>
        <p:nvSpPr>
          <p:cNvPr id="16" name="Text 14"/>
          <p:cNvSpPr/>
          <p:nvPr/>
        </p:nvSpPr>
        <p:spPr>
          <a:xfrm>
            <a:off x="841248" y="5376672"/>
            <a:ext cx="2377440" cy="292608"/>
          </a:xfrm>
          <a:prstGeom prst="rect">
            <a:avLst/>
          </a:prstGeom>
          <a:noFill/>
          <a:ln/>
        </p:spPr>
        <p:txBody>
          <a:bodyPr wrap="square" lIns="0" tIns="0" rIns="0" bIns="0" rtlCol="0" anchor="ctr"/>
          <a:lstStyle/>
          <a:p>
            <a:pPr indent="0" marL="0">
              <a:buNone/>
            </a:pPr>
            <a:r>
              <a:rPr lang="en-US" sz="1250" b="1" dirty="0">
                <a:solidFill>
                  <a:srgbClr val="9E2019"/>
                </a:solidFill>
                <a:latin typeface="Calibri" pitchFamily="34" charset="0"/>
                <a:ea typeface="Calibri" pitchFamily="34" charset="-122"/>
                <a:cs typeface="Calibri" pitchFamily="34" charset="-120"/>
              </a:rPr>
              <a:t>The one real risk</a:t>
            </a:r>
            <a:endParaRPr lang="en-US" sz="1250" dirty="0"/>
          </a:p>
        </p:txBody>
      </p:sp>
      <p:sp>
        <p:nvSpPr>
          <p:cNvPr id="17" name="Text 15"/>
          <p:cNvSpPr/>
          <p:nvPr/>
        </p:nvSpPr>
        <p:spPr>
          <a:xfrm>
            <a:off x="3310128" y="5358384"/>
            <a:ext cx="8138160" cy="731520"/>
          </a:xfrm>
          <a:prstGeom prst="rect">
            <a:avLst/>
          </a:prstGeom>
          <a:noFill/>
          <a:ln/>
        </p:spPr>
        <p:txBody>
          <a:bodyPr wrap="square" lIns="0" tIns="0" rIns="0" bIns="0" rtlCol="0" anchor="ctr"/>
          <a:lstStyle/>
          <a:p>
            <a:pPr indent="0" marL="0">
              <a:lnSpc>
                <a:spcPts val="1500"/>
              </a:lnSpc>
              <a:buNone/>
            </a:pPr>
            <a:r>
              <a:rPr lang="en-US" sz="1150" dirty="0">
                <a:solidFill>
                  <a:srgbClr val="5D6773"/>
                </a:solidFill>
                <a:latin typeface="Calibri" pitchFamily="34" charset="0"/>
                <a:ea typeface="Calibri" pitchFamily="34" charset="-122"/>
                <a:cs typeface="Calibri" pitchFamily="34" charset="-120"/>
              </a:rPr>
              <a:t>The app is currently maintained by one person. That is the strongest argument for approving it formally: naming a departmental owner and a documented support path turns a personal project into an asset the department can rely on.</a:t>
            </a:r>
            <a:endParaRPr lang="en-US" sz="1150" dirty="0"/>
          </a:p>
        </p:txBody>
      </p:sp>
      <p:sp>
        <p:nvSpPr>
          <p:cNvPr id="19" name="Text 16"/>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20" name="Text 17"/>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408176"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408176"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ROLLOUT</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How we would roll it out</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Phased, with the tool already proven on real visits before anything is switched off.</a:t>
            </a:r>
            <a:endParaRPr lang="en-US" sz="13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914400"/>
        </p:xfrm>
        <a:graphic>
          <a:graphicData uri="http://schemas.openxmlformats.org/drawingml/2006/table">
            <a:tbl>
              <a:tblPr/>
              <a:tblGrid>
                <a:gridCol w="2011680"/>
                <a:gridCol w="1737360"/>
                <a:gridCol w="4754880"/>
                <a:gridCol w="2569464"/>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Done when</a:t>
                      </a:r>
                      <a:endParaRPr lang="en-US" sz="115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0053A1"/>
                    </a:solidFill>
                  </a:tcPr>
                </a:tc>
              </a:tr>
              <a:tr h="566928">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1 · Confirm</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Weeks 1–2</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Department signs off the item tiering; owner and support path named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Tiering approved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2 · Train</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Weeks 3–4</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Every specialist runs one live visit in the app alongside their normal process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All specialists have finalized one visit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566928">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3 · Switch</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Month 2</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The app becomes the standard for all readiness visits; paper write-ups retired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No parallel process left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4 · Weight</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Month 3</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Weighted scoring and the coverage view go live; historic visits re-score automatically</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Weighted score reported to leadership</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EDF2F7"/>
                    </a:solidFill>
                  </a:tcPr>
                </a:tc>
              </a:tr>
              <a:tr h="566928">
                <a:tc>
                  <a:txBody>
                    <a:bodyPr/>
                    <a:lstStyle/>
                    <a:p>
                      <a:pPr indent="0" marL="0">
                        <a:buNone/>
                      </a:pPr>
                      <a:r>
                        <a:rPr lang="en-US" sz="1100" b="1" dirty="0">
                          <a:solidFill>
                            <a:srgbClr val="131922"/>
                          </a:solidFill>
                          <a:latin typeface="Calibri" pitchFamily="34" charset="0"/>
                          <a:ea typeface="Calibri" pitchFamily="34" charset="-122"/>
                          <a:cs typeface="Calibri" pitchFamily="34" charset="-120"/>
                        </a:rPr>
                        <a:t>5 · Review</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First half-year review: score trend, coverage, and time actually saved</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indent="0" marL="0">
                        <a:buNone/>
                      </a:pPr>
                      <a:r>
                        <a:rPr lang="en-US" sz="1100" dirty="0">
                          <a:solidFill>
                            <a:srgbClr val="131922"/>
                          </a:solidFill>
                          <a:latin typeface="Calibri" pitchFamily="34" charset="0"/>
                          <a:ea typeface="Calibri" pitchFamily="34" charset="-122"/>
                          <a:cs typeface="Calibri" pitchFamily="34" charset="-120"/>
                        </a:rPr>
                        <a:t>Estimates replaced with measured figures</a:t>
                      </a:r>
                      <a:endParaRPr lang="en-US" sz="1100" dirty="0">
                        <a:latin typeface="Calibri" charset="0"/>
                        <a:ea typeface="Calibri" charset="0"/>
                        <a:cs typeface="Calibri" charset="0"/>
                      </a:endParaRPr>
                    </a:p>
                  </a:txBody>
                  <a:tcPr marL="114300" marR="114300" marT="63500" marB="63500" anchor="ctr">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632704"/>
            <a:ext cx="11055096" cy="457200"/>
          </a:xfrm>
          <a:prstGeom prst="rect">
            <a:avLst/>
          </a:prstGeom>
          <a:noFill/>
          <a:ln/>
        </p:spPr>
        <p:txBody>
          <a:bodyPr wrap="square" lIns="0" tIns="0" rIns="0" bIns="0" rtlCol="0" anchor="t"/>
          <a:lstStyle/>
          <a:p>
            <a:pPr indent="0" marL="0">
              <a:lnSpc>
                <a:spcPts val="1400"/>
              </a:lnSpc>
              <a:buNone/>
            </a:pPr>
            <a:r>
              <a:rPr lang="en-US" sz="1050" i="1" dirty="0">
                <a:solidFill>
                  <a:srgbClr val="8A94A1"/>
                </a:solidFill>
                <a:latin typeface="Calibri" pitchFamily="34" charset="0"/>
                <a:ea typeface="Calibri" pitchFamily="34" charset="-122"/>
                <a:cs typeface="Calibri" pitchFamily="34" charset="-120"/>
              </a:rPr>
              <a:t>No phase requires taking a specialist off the road, and no phase depends on the one after it being funded.</a:t>
            </a:r>
            <a:endParaRPr lang="en-US" sz="1050" dirty="0"/>
          </a:p>
        </p:txBody>
      </p:sp>
      <p:sp>
        <p:nvSpPr>
          <p:cNvPr id="8" name="Text 5"/>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9" name="Text 6"/>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66928" y="310896"/>
            <a:ext cx="1408176" cy="274320"/>
          </a:xfrm>
          <a:prstGeom prst="roundRect">
            <a:avLst>
              <a:gd name="adj" fmla="val 50000"/>
            </a:avLst>
          </a:prstGeom>
          <a:solidFill>
            <a:srgbClr val="1C4A7E"/>
          </a:solidFill>
          <a:ln w="9525">
            <a:solidFill>
              <a:srgbClr val="2B5E96"/>
            </a:solidFill>
            <a:prstDash val="solid"/>
          </a:ln>
        </p:spPr>
      </p:sp>
      <p:sp>
        <p:nvSpPr>
          <p:cNvPr id="3" name="Text 1"/>
          <p:cNvSpPr/>
          <p:nvPr/>
        </p:nvSpPr>
        <p:spPr>
          <a:xfrm>
            <a:off x="566928" y="310896"/>
            <a:ext cx="1408176" cy="274320"/>
          </a:xfrm>
          <a:prstGeom prst="rect">
            <a:avLst/>
          </a:prstGeom>
          <a:noFill/>
          <a:ln/>
        </p:spPr>
        <p:txBody>
          <a:bodyPr wrap="square" lIns="0" tIns="0" rIns="0" bIns="0" rtlCol="0" anchor="ctr"/>
          <a:lstStyle/>
          <a:p>
            <a:pPr algn="ctr" indent="0" marL="0">
              <a:buNone/>
            </a:pPr>
            <a:r>
              <a:rPr lang="en-US" sz="950" b="1" spc="110" kern="0" dirty="0">
                <a:solidFill>
                  <a:srgbClr val="A9C8E8"/>
                </a:solidFill>
                <a:latin typeface="Calibri" pitchFamily="34" charset="0"/>
                <a:ea typeface="Calibri" pitchFamily="34" charset="-122"/>
                <a:cs typeface="Calibri" pitchFamily="34" charset="-120"/>
              </a:rPr>
              <a:t>THE ASK</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 need from you</a:t>
            </a:r>
            <a:endParaRPr lang="en-US" sz="3000" dirty="0"/>
          </a:p>
        </p:txBody>
      </p:sp>
      <p:sp>
        <p:nvSpPr>
          <p:cNvPr id="5" name="Shape 3"/>
          <p:cNvSpPr/>
          <p:nvPr/>
        </p:nvSpPr>
        <p:spPr>
          <a:xfrm>
            <a:off x="566928" y="1965960"/>
            <a:ext cx="3532632" cy="1874520"/>
          </a:xfrm>
          <a:prstGeom prst="roundRect">
            <a:avLst>
              <a:gd name="adj" fmla="val 2927"/>
            </a:avLst>
          </a:prstGeom>
          <a:solidFill>
            <a:srgbClr val="12315A"/>
          </a:solidFill>
          <a:ln w="9525">
            <a:solidFill>
              <a:srgbClr val="24507F"/>
            </a:solidFill>
            <a:prstDash val="solid"/>
          </a:ln>
        </p:spPr>
      </p:sp>
      <p:sp>
        <p:nvSpPr>
          <p:cNvPr id="6" name="Shape 4"/>
          <p:cNvSpPr/>
          <p:nvPr/>
        </p:nvSpPr>
        <p:spPr>
          <a:xfrm>
            <a:off x="822960" y="2212848"/>
            <a:ext cx="512064" cy="512064"/>
          </a:xfrm>
          <a:prstGeom prst="ellipse">
            <a:avLst/>
          </a:prstGeom>
          <a:solidFill>
            <a:srgbClr val="3D83CC"/>
          </a:solidFill>
          <a:ln/>
        </p:spPr>
      </p:sp>
      <p:sp>
        <p:nvSpPr>
          <p:cNvPr id="7" name="Text 5"/>
          <p:cNvSpPr/>
          <p:nvPr/>
        </p:nvSpPr>
        <p:spPr>
          <a:xfrm>
            <a:off x="822960" y="2212848"/>
            <a:ext cx="512064" cy="512064"/>
          </a:xfrm>
          <a:prstGeom prst="rect">
            <a:avLst/>
          </a:prstGeom>
          <a:noFill/>
          <a:ln/>
        </p:spPr>
        <p:txBody>
          <a:bodyPr wrap="square" lIns="0" tIns="0" rIns="0" bIns="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2816352"/>
            <a:ext cx="3020568" cy="42062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Approve the rollout</a:t>
            </a:r>
            <a:endParaRPr lang="en-US" sz="1800" dirty="0"/>
          </a:p>
        </p:txBody>
      </p:sp>
      <p:sp>
        <p:nvSpPr>
          <p:cNvPr id="9" name="Text 7"/>
          <p:cNvSpPr/>
          <p:nvPr/>
        </p:nvSpPr>
        <p:spPr>
          <a:xfrm>
            <a:off x="822960" y="3255264"/>
            <a:ext cx="3020568" cy="502920"/>
          </a:xfrm>
          <a:prstGeom prst="rect">
            <a:avLst/>
          </a:prstGeom>
          <a:noFill/>
          <a:ln/>
        </p:spPr>
        <p:txBody>
          <a:bodyPr wrap="square" lIns="0" tIns="0" rIns="0" bIns="0" rtlCol="0" anchor="t"/>
          <a:lstStyle/>
          <a:p>
            <a:pPr indent="0" marL="0">
              <a:lnSpc>
                <a:spcPts val="1600"/>
              </a:lnSpc>
              <a:buNone/>
            </a:pPr>
            <a:r>
              <a:rPr lang="en-US" sz="1200" dirty="0">
                <a:solidFill>
                  <a:srgbClr val="AFC4DC"/>
                </a:solidFill>
                <a:latin typeface="Calibri" pitchFamily="34" charset="0"/>
                <a:ea typeface="Calibri" pitchFamily="34" charset="-122"/>
                <a:cs typeface="Calibri" pitchFamily="34" charset="-120"/>
              </a:rPr>
              <a:t>Make the app the standard for every readiness visit from month 2.</a:t>
            </a:r>
            <a:endParaRPr lang="en-US" sz="1200" dirty="0"/>
          </a:p>
        </p:txBody>
      </p:sp>
      <p:sp>
        <p:nvSpPr>
          <p:cNvPr id="10" name="Shape 8"/>
          <p:cNvSpPr/>
          <p:nvPr/>
        </p:nvSpPr>
        <p:spPr>
          <a:xfrm>
            <a:off x="4328160" y="1965960"/>
            <a:ext cx="3532632" cy="1874520"/>
          </a:xfrm>
          <a:prstGeom prst="roundRect">
            <a:avLst>
              <a:gd name="adj" fmla="val 2927"/>
            </a:avLst>
          </a:prstGeom>
          <a:solidFill>
            <a:srgbClr val="12315A"/>
          </a:solidFill>
          <a:ln w="9525">
            <a:solidFill>
              <a:srgbClr val="24507F"/>
            </a:solidFill>
            <a:prstDash val="solid"/>
          </a:ln>
        </p:spPr>
      </p:sp>
      <p:sp>
        <p:nvSpPr>
          <p:cNvPr id="11" name="Shape 9"/>
          <p:cNvSpPr/>
          <p:nvPr/>
        </p:nvSpPr>
        <p:spPr>
          <a:xfrm>
            <a:off x="4584192" y="2212848"/>
            <a:ext cx="512064" cy="512064"/>
          </a:xfrm>
          <a:prstGeom prst="ellipse">
            <a:avLst/>
          </a:prstGeom>
          <a:solidFill>
            <a:srgbClr val="3D83CC"/>
          </a:solidFill>
          <a:ln/>
        </p:spPr>
      </p:sp>
      <p:sp>
        <p:nvSpPr>
          <p:cNvPr id="12" name="Text 10"/>
          <p:cNvSpPr/>
          <p:nvPr/>
        </p:nvSpPr>
        <p:spPr>
          <a:xfrm>
            <a:off x="4584192" y="2212848"/>
            <a:ext cx="512064" cy="512064"/>
          </a:xfrm>
          <a:prstGeom prst="rect">
            <a:avLst/>
          </a:prstGeom>
          <a:noFill/>
          <a:ln/>
        </p:spPr>
        <p:txBody>
          <a:bodyPr wrap="square" lIns="0" tIns="0" rIns="0" bIns="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584192" y="2816352"/>
            <a:ext cx="3020568" cy="42062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Approve the weighting</a:t>
            </a:r>
            <a:endParaRPr lang="en-US" sz="1800" dirty="0"/>
          </a:p>
        </p:txBody>
      </p:sp>
      <p:sp>
        <p:nvSpPr>
          <p:cNvPr id="14" name="Text 12"/>
          <p:cNvSpPr/>
          <p:nvPr/>
        </p:nvSpPr>
        <p:spPr>
          <a:xfrm>
            <a:off x="4584192" y="3255264"/>
            <a:ext cx="3020568" cy="502920"/>
          </a:xfrm>
          <a:prstGeom prst="rect">
            <a:avLst/>
          </a:prstGeom>
          <a:noFill/>
          <a:ln/>
        </p:spPr>
        <p:txBody>
          <a:bodyPr wrap="square" lIns="0" tIns="0" rIns="0" bIns="0" rtlCol="0" anchor="t"/>
          <a:lstStyle/>
          <a:p>
            <a:pPr indent="0" marL="0">
              <a:lnSpc>
                <a:spcPts val="1600"/>
              </a:lnSpc>
              <a:buNone/>
            </a:pPr>
            <a:r>
              <a:rPr lang="en-US" sz="1200" dirty="0">
                <a:solidFill>
                  <a:srgbClr val="AFC4DC"/>
                </a:solidFill>
                <a:latin typeface="Calibri" pitchFamily="34" charset="0"/>
                <a:ea typeface="Calibri" pitchFamily="34" charset="-122"/>
                <a:cs typeface="Calibri" pitchFamily="34" charset="-120"/>
              </a:rPr>
              <a:t>Sign off the severity tiers so the trend data ranks by risk.</a:t>
            </a:r>
            <a:endParaRPr lang="en-US" sz="1200" dirty="0"/>
          </a:p>
        </p:txBody>
      </p:sp>
      <p:sp>
        <p:nvSpPr>
          <p:cNvPr id="15" name="Shape 13"/>
          <p:cNvSpPr/>
          <p:nvPr/>
        </p:nvSpPr>
        <p:spPr>
          <a:xfrm>
            <a:off x="8089392" y="1965960"/>
            <a:ext cx="3532632" cy="1874520"/>
          </a:xfrm>
          <a:prstGeom prst="roundRect">
            <a:avLst>
              <a:gd name="adj" fmla="val 2927"/>
            </a:avLst>
          </a:prstGeom>
          <a:solidFill>
            <a:srgbClr val="12315A"/>
          </a:solidFill>
          <a:ln w="9525">
            <a:solidFill>
              <a:srgbClr val="24507F"/>
            </a:solidFill>
            <a:prstDash val="solid"/>
          </a:ln>
        </p:spPr>
      </p:sp>
      <p:sp>
        <p:nvSpPr>
          <p:cNvPr id="16" name="Shape 14"/>
          <p:cNvSpPr/>
          <p:nvPr/>
        </p:nvSpPr>
        <p:spPr>
          <a:xfrm>
            <a:off x="8345424" y="2212848"/>
            <a:ext cx="512064" cy="512064"/>
          </a:xfrm>
          <a:prstGeom prst="ellipse">
            <a:avLst/>
          </a:prstGeom>
          <a:solidFill>
            <a:srgbClr val="3D83CC"/>
          </a:solidFill>
          <a:ln/>
        </p:spPr>
      </p:sp>
      <p:sp>
        <p:nvSpPr>
          <p:cNvPr id="17" name="Text 15"/>
          <p:cNvSpPr/>
          <p:nvPr/>
        </p:nvSpPr>
        <p:spPr>
          <a:xfrm>
            <a:off x="8345424" y="2212848"/>
            <a:ext cx="512064" cy="512064"/>
          </a:xfrm>
          <a:prstGeom prst="rect">
            <a:avLst/>
          </a:prstGeom>
          <a:noFill/>
          <a:ln/>
        </p:spPr>
        <p:txBody>
          <a:bodyPr wrap="square" lIns="0" tIns="0" rIns="0" bIns="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345424" y="2816352"/>
            <a:ext cx="3020568" cy="42062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Name the owner</a:t>
            </a:r>
            <a:endParaRPr lang="en-US" sz="1800" dirty="0"/>
          </a:p>
        </p:txBody>
      </p:sp>
      <p:sp>
        <p:nvSpPr>
          <p:cNvPr id="19" name="Text 17"/>
          <p:cNvSpPr/>
          <p:nvPr/>
        </p:nvSpPr>
        <p:spPr>
          <a:xfrm>
            <a:off x="8345424" y="3255264"/>
            <a:ext cx="3020568" cy="502920"/>
          </a:xfrm>
          <a:prstGeom prst="rect">
            <a:avLst/>
          </a:prstGeom>
          <a:noFill/>
          <a:ln/>
        </p:spPr>
        <p:txBody>
          <a:bodyPr wrap="square" lIns="0" tIns="0" rIns="0" bIns="0" rtlCol="0" anchor="t"/>
          <a:lstStyle/>
          <a:p>
            <a:pPr indent="0" marL="0">
              <a:lnSpc>
                <a:spcPts val="1600"/>
              </a:lnSpc>
              <a:buNone/>
            </a:pPr>
            <a:r>
              <a:rPr lang="en-US" sz="1200" dirty="0">
                <a:solidFill>
                  <a:srgbClr val="AFC4DC"/>
                </a:solidFill>
                <a:latin typeface="Calibri" pitchFamily="34" charset="0"/>
                <a:ea typeface="Calibri" pitchFamily="34" charset="-122"/>
                <a:cs typeface="Calibri" pitchFamily="34" charset="-120"/>
              </a:rPr>
              <a:t>Turn a working tool into a supported departmental asset.</a:t>
            </a:r>
            <a:endParaRPr lang="en-US" sz="1200" dirty="0"/>
          </a:p>
        </p:txBody>
      </p:sp>
      <p:sp>
        <p:nvSpPr>
          <p:cNvPr id="20" name="Text 18"/>
          <p:cNvSpPr/>
          <p:nvPr/>
        </p:nvSpPr>
        <p:spPr>
          <a:xfrm>
            <a:off x="566928" y="4343400"/>
            <a:ext cx="11055096" cy="457200"/>
          </a:xfrm>
          <a:prstGeom prst="rect">
            <a:avLst/>
          </a:prstGeom>
          <a:noFill/>
          <a:ln/>
        </p:spPr>
        <p:txBody>
          <a:bodyPr wrap="square" lIns="0" tIns="0" rIns="0" bIns="0" rtlCol="0" anchor="ctr"/>
          <a:lstStyle/>
          <a:p>
            <a:pPr indent="0" marL="0">
              <a:buNone/>
            </a:pPr>
            <a:r>
              <a:rPr lang="en-US" sz="2100" dirty="0">
                <a:solidFill>
                  <a:srgbClr val="7FA8D4"/>
                </a:solidFill>
                <a:latin typeface="Cambria" pitchFamily="34" charset="0"/>
                <a:ea typeface="Cambria" pitchFamily="34" charset="-122"/>
                <a:cs typeface="Cambria" pitchFamily="34" charset="-120"/>
              </a:rPr>
              <a:t>The tool exists, it is in use, and it costs nothing to license. What it needs now is a decision.</a:t>
            </a:r>
            <a:endParaRPr lang="en-US" sz="2100" dirty="0"/>
          </a:p>
        </p:txBody>
      </p:sp>
      <p:sp>
        <p:nvSpPr>
          <p:cNvPr id="21" name="Text 19"/>
          <p:cNvSpPr/>
          <p:nvPr/>
        </p:nvSpPr>
        <p:spPr>
          <a:xfrm>
            <a:off x="566928" y="4892040"/>
            <a:ext cx="11055096" cy="365760"/>
          </a:xfrm>
          <a:prstGeom prst="rect">
            <a:avLst/>
          </a:prstGeom>
          <a:noFill/>
          <a:ln/>
        </p:spPr>
        <p:txBody>
          <a:bodyPr wrap="square" lIns="0" tIns="0" rIns="0" bIns="0" rtlCol="0" anchor="ctr"/>
          <a:lstStyle/>
          <a:p>
            <a:pPr indent="0" marL="0">
              <a:buNone/>
            </a:pPr>
            <a:r>
              <a:rPr lang="en-US" sz="1300" dirty="0">
                <a:solidFill>
                  <a:srgbClr val="8CA3BE"/>
                </a:solidFill>
                <a:latin typeface="Calibri" pitchFamily="34" charset="0"/>
                <a:ea typeface="Calibri" pitchFamily="34" charset="-122"/>
                <a:cs typeface="Calibri" pitchFamily="34" charset="-120"/>
              </a:rPr>
              <a:t>Questions welcome — and a live walkthrough of any screen in this deck can be run on request.</a:t>
            </a:r>
            <a:endParaRPr lang="en-US" sz="1300" dirty="0"/>
          </a:p>
        </p:txBody>
      </p:sp>
      <p:sp>
        <p:nvSpPr>
          <p:cNvPr id="22" name="Text 20"/>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6E86A6"/>
                </a:solidFill>
                <a:latin typeface="Calibri" pitchFamily="34" charset="0"/>
                <a:ea typeface="Calibri" pitchFamily="34" charset="-122"/>
                <a:cs typeface="Calibri" pitchFamily="34" charset="-120"/>
              </a:rPr>
              <a:t>Rotech Accreditation · Survey Prep App</a:t>
            </a:r>
            <a:endParaRPr lang="en-US" sz="900" dirty="0"/>
          </a:p>
        </p:txBody>
      </p:sp>
      <p:sp>
        <p:nvSpPr>
          <p:cNvPr id="23" name="Text 21"/>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6E86A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310896"/>
            <a:ext cx="1554480" cy="274320"/>
          </a:xfrm>
          <a:prstGeom prst="roundRect">
            <a:avLst>
              <a:gd name="adj" fmla="val 50000"/>
            </a:avLst>
          </a:prstGeom>
          <a:solidFill>
            <a:srgbClr val="E3EDF7"/>
          </a:solidFill>
          <a:ln w="9525">
            <a:solidFill>
              <a:srgbClr val="CFE0F0"/>
            </a:solidFill>
            <a:prstDash val="solid"/>
          </a:ln>
        </p:spPr>
      </p:sp>
      <p:sp>
        <p:nvSpPr>
          <p:cNvPr id="3" name="Text 1"/>
          <p:cNvSpPr/>
          <p:nvPr/>
        </p:nvSpPr>
        <p:spPr>
          <a:xfrm>
            <a:off x="566928" y="310896"/>
            <a:ext cx="1554480" cy="274320"/>
          </a:xfrm>
          <a:prstGeom prst="rect">
            <a:avLst/>
          </a:prstGeom>
          <a:noFill/>
          <a:ln/>
        </p:spPr>
        <p:txBody>
          <a:bodyPr wrap="square" lIns="0" tIns="0" rIns="0" bIns="0" rtlCol="0" anchor="ctr"/>
          <a:lstStyle/>
          <a:p>
            <a:pPr algn="ctr" indent="0" marL="0">
              <a:buNone/>
            </a:pPr>
            <a:r>
              <a:rPr lang="en-US" sz="950" b="1" spc="110" kern="0" dirty="0">
                <a:solidFill>
                  <a:srgbClr val="0053A1"/>
                </a:solidFill>
                <a:latin typeface="Calibri" pitchFamily="34" charset="0"/>
                <a:ea typeface="Calibri" pitchFamily="34" charset="-122"/>
                <a:cs typeface="Calibri" pitchFamily="34" charset="-120"/>
              </a:rPr>
              <a:t>APPENDIX</a:t>
            </a:r>
            <a:endParaRPr lang="en-US" sz="950" dirty="0"/>
          </a:p>
        </p:txBody>
      </p:sp>
      <p:sp>
        <p:nvSpPr>
          <p:cNvPr id="4" name="Text 2"/>
          <p:cNvSpPr/>
          <p:nvPr/>
        </p:nvSpPr>
        <p:spPr>
          <a:xfrm>
            <a:off x="566928" y="676656"/>
            <a:ext cx="11055096"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In the field</a:t>
            </a:r>
            <a:endParaRPr lang="en-US" sz="3000" dirty="0"/>
          </a:p>
        </p:txBody>
      </p:sp>
      <p:sp>
        <p:nvSpPr>
          <p:cNvPr id="5" name="Text 3"/>
          <p:cNvSpPr/>
          <p:nvPr/>
        </p:nvSpPr>
        <p:spPr>
          <a:xfrm>
            <a:off x="566928" y="1243584"/>
            <a:ext cx="10872216" cy="384048"/>
          </a:xfrm>
          <a:prstGeom prst="rect">
            <a:avLst/>
          </a:prstGeom>
          <a:noFill/>
          <a:ln/>
        </p:spPr>
        <p:txBody>
          <a:bodyPr wrap="square" lIns="0" tIns="0" rIns="0" bIns="0" rtlCol="0" anchor="t"/>
          <a:lstStyle/>
          <a:p>
            <a:pPr indent="0" marL="0">
              <a:buNone/>
            </a:pPr>
            <a:r>
              <a:rPr lang="en-US" sz="1350" dirty="0">
                <a:solidFill>
                  <a:srgbClr val="5D6773"/>
                </a:solidFill>
                <a:latin typeface="Calibri" pitchFamily="34" charset="0"/>
                <a:ea typeface="Calibri" pitchFamily="34" charset="-122"/>
                <a:cs typeface="Calibri" pitchFamily="34" charset="-120"/>
              </a:rPr>
              <a:t>The app installs to the home screen and runs full-screen on a tablet, with or without a signal.</a:t>
            </a:r>
            <a:endParaRPr lang="en-US" sz="1350" dirty="0"/>
          </a:p>
        </p:txBody>
      </p:sp>
      <p:sp>
        <p:nvSpPr>
          <p:cNvPr id="6" name="Text 4"/>
          <p:cNvSpPr/>
          <p:nvPr/>
        </p:nvSpPr>
        <p:spPr>
          <a:xfrm>
            <a:off x="566928" y="1965960"/>
            <a:ext cx="3794760" cy="411480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Installable as a standalone app on iPad, Android and desktop</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The full checklist, OP 541 review and JC 427 tabs work offline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Answers sync the moment a connection is available</a:t>
            </a:r>
            <a:endParaRPr lang="en-US" sz="1300" dirty="0"/>
          </a:p>
          <a:p>
            <a:pPr marL="342900" indent="-342900">
              <a:lnSpc>
                <a:spcPts val="1900"/>
              </a:lnSpc>
              <a:spcAft>
                <a:spcPts val="900"/>
              </a:spcAft>
              <a:buSzPct val="100000"/>
              <a:buChar char="▪"/>
            </a:pPr>
            <a:r>
              <a:rPr lang="en-US" sz="1300" dirty="0">
                <a:solidFill>
                  <a:srgbClr val="131922"/>
                </a:solidFill>
                <a:latin typeface="Calibri" pitchFamily="34" charset="0"/>
                <a:ea typeface="Calibri" pitchFamily="34" charset="-122"/>
                <a:cs typeface="Calibri" pitchFamily="34" charset="-120"/>
              </a:rPr>
              <a:t>Updates are offered, never forced — an update cannot interrupt a visit in progress</a:t>
            </a:r>
            <a:endParaRPr lang="en-US" sz="1300" dirty="0"/>
          </a:p>
        </p:txBody>
      </p:sp>
      <p:sp>
        <p:nvSpPr>
          <p:cNvPr id="7" name="Shape 5"/>
          <p:cNvSpPr/>
          <p:nvPr/>
        </p:nvSpPr>
        <p:spPr>
          <a:xfrm>
            <a:off x="6579108" y="1810512"/>
            <a:ext cx="3118104" cy="4114800"/>
          </a:xfrm>
          <a:prstGeom prst="roundRect">
            <a:avLst>
              <a:gd name="adj" fmla="val 1173"/>
            </a:avLst>
          </a:prstGeom>
          <a:solidFill>
            <a:srgbClr val="FFFFFF"/>
          </a:solidFill>
          <a:ln w="9525">
            <a:solidFill>
              <a:srgbClr val="DCE3EB"/>
            </a:solidFill>
            <a:prstDash val="solid"/>
          </a:ln>
          <a:effectLst>
            <a:outerShdw sx="100000" sy="100000" kx="0" ky="0" algn="bl" rotWithShape="0" blurRad="177800" dist="38100" dir="5400000">
              <a:srgbClr val="0B2545">
                <a:alpha val="16000"/>
              </a:srgbClr>
            </a:outerShdw>
          </a:effectLst>
        </p:spPr>
      </p:sp>
      <p:pic>
        <p:nvPicPr>
          <p:cNvPr id="8" name="Image 0" descr="/tmp/claude-0/-home-user-rotech-survey-prep/83831baf-ce80-5cc5-b8c6-b0e43c1938af/scratchpad/shots/opt/22-tablet-checklist.jpg">    </p:cNvPr>
          <p:cNvPicPr>
            <a:picLocks noChangeAspect="1"/>
          </p:cNvPicPr>
          <p:nvPr/>
        </p:nvPicPr>
        <p:blipFill>
          <a:blip r:embed="rId1"/>
          <a:stretch>
            <a:fillRect/>
          </a:stretch>
        </p:blipFill>
        <p:spPr>
          <a:xfrm>
            <a:off x="6643116" y="1874520"/>
            <a:ext cx="2990088" cy="3986784"/>
          </a:xfrm>
          <a:prstGeom prst="rect">
            <a:avLst/>
          </a:prstGeom>
        </p:spPr>
      </p:pic>
      <p:sp>
        <p:nvSpPr>
          <p:cNvPr id="9" name="Text 6"/>
          <p:cNvSpPr/>
          <p:nvPr/>
        </p:nvSpPr>
        <p:spPr>
          <a:xfrm>
            <a:off x="5852160" y="5989320"/>
            <a:ext cx="4572000" cy="274320"/>
          </a:xfrm>
          <a:prstGeom prst="rect">
            <a:avLst/>
          </a:prstGeom>
          <a:noFill/>
          <a:ln/>
        </p:spPr>
        <p:txBody>
          <a:bodyPr wrap="square" lIns="0" tIns="0" rIns="0" bIns="0" rtlCol="0" anchor="t"/>
          <a:lstStyle/>
          <a:p>
            <a:pPr algn="ctr" indent="0" marL="0">
              <a:buNone/>
            </a:pPr>
            <a:r>
              <a:rPr lang="en-US" sz="1000" i="1" dirty="0">
                <a:solidFill>
                  <a:srgbClr val="8A94A1"/>
                </a:solidFill>
                <a:latin typeface="Calibri" pitchFamily="34" charset="0"/>
                <a:ea typeface="Calibri" pitchFamily="34" charset="-122"/>
                <a:cs typeface="Calibri" pitchFamily="34" charset="-120"/>
              </a:rPr>
              <a:t>The app on an iPad, mid-visit</a:t>
            </a:r>
            <a:endParaRPr lang="en-US" sz="1000" dirty="0"/>
          </a:p>
        </p:txBody>
      </p:sp>
      <p:sp>
        <p:nvSpPr>
          <p:cNvPr id="10" name="Text 7"/>
          <p:cNvSpPr/>
          <p:nvPr/>
        </p:nvSpPr>
        <p:spPr>
          <a:xfrm>
            <a:off x="566928" y="6473952"/>
            <a:ext cx="5486400" cy="256032"/>
          </a:xfrm>
          <a:prstGeom prst="rect">
            <a:avLst/>
          </a:prstGeom>
          <a:noFill/>
          <a:ln/>
        </p:spPr>
        <p:txBody>
          <a:bodyPr wrap="square" lIns="0" tIns="0" rIns="0" bIns="0" rtlCol="0" anchor="ctr"/>
          <a:lstStyle/>
          <a:p>
            <a:pPr indent="0" marL="0">
              <a:buNone/>
            </a:pPr>
            <a:r>
              <a:rPr lang="en-US" sz="900" dirty="0">
                <a:solidFill>
                  <a:srgbClr val="8A94A1"/>
                </a:solidFill>
                <a:latin typeface="Calibri" pitchFamily="34" charset="0"/>
                <a:ea typeface="Calibri" pitchFamily="34" charset="-122"/>
                <a:cs typeface="Calibri" pitchFamily="34" charset="-120"/>
              </a:rPr>
              <a:t>Rotech Accreditation · Survey Prep App</a:t>
            </a:r>
            <a:endParaRPr lang="en-US" sz="900" dirty="0"/>
          </a:p>
        </p:txBody>
      </p:sp>
      <p:sp>
        <p:nvSpPr>
          <p:cNvPr id="11" name="Text 8"/>
          <p:cNvSpPr/>
          <p:nvPr/>
        </p:nvSpPr>
        <p:spPr>
          <a:xfrm>
            <a:off x="10981944" y="6473952"/>
            <a:ext cx="640080" cy="256032"/>
          </a:xfrm>
          <a:prstGeom prst="rect">
            <a:avLst/>
          </a:prstGeom>
          <a:noFill/>
          <a:ln/>
        </p:spPr>
        <p:txBody>
          <a:bodyPr wrap="square" lIns="0" tIns="0" rIns="0" bIns="0" rtlCol="0" anchor="ctr"/>
          <a:lstStyle/>
          <a:p>
            <a:pPr algn="r" indent="0" marL="0">
              <a:buNone/>
            </a:pPr>
            <a:r>
              <a:rPr lang="en-US" sz="900" dirty="0">
                <a:solidFill>
                  <a:srgbClr val="8A94A1"/>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Rotech Healthcare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Survey Prep App — Rollout Proposal</dc:title>
  <dc:subject>PptxGenJS Presentation</dc:subject>
  <dc:creator>Accreditation Department</dc:creator>
  <cp:lastModifiedBy>Accreditation Department</cp:lastModifiedBy>
  <cp:revision>1</cp:revision>
  <dcterms:created xsi:type="dcterms:W3CDTF">2026-07-29T16:26:49Z</dcterms:created>
  <dcterms:modified xsi:type="dcterms:W3CDTF">2026-07-29T16:26:49Z</dcterms:modified>
</cp:coreProperties>
</file>